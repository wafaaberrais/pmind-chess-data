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4177" y="666750"/>
            <a:ext cx="384274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SOUTENANCE — 19 MAI 2026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8138"/>
            <a:ext cx="5334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5000" y="2681511"/>
            <a:ext cx="193707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88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PROJET </a:t>
            </a:r>
            <a:pPr algn="l" indent="0" marL="0">
              <a:lnSpc>
                <a:spcPct val="145000"/>
              </a:lnSpc>
              <a:buNone/>
            </a:pPr>
            <a:r>
              <a:rPr lang="en-US" sz="2100" i="1" spc="288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PMIND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522538"/>
            <a:ext cx="16482060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Développement d'un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moteur d'échecs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108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adaptatif personnalisé par apprentissage automatique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143000" y="6139830"/>
            <a:ext cx="1177290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Estimation du niveau Elo et profil comportemental à partir de parties analysées.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143000" y="7963049"/>
            <a:ext cx="510159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PRÉSENTÉ PAR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8370689"/>
            <a:ext cx="510159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Wafaa Berrais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143000" y="8804970"/>
            <a:ext cx="510159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Zineddine Mohammedi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67500" y="8111579"/>
            <a:ext cx="510159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ENCADREMENT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67500" y="8519220"/>
            <a:ext cx="51015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Nicolas Baskiotis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in memoriam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667500" y="8879235"/>
            <a:ext cx="51015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Olivier Schwander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043410" y="8085832"/>
            <a:ext cx="510159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ÉTABLISSEMENT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043410" y="8493472"/>
            <a:ext cx="51015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Sorbonne Université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2043410" y="8907810"/>
            <a:ext cx="510159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Master 1 MIND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828243" y="533400"/>
            <a:ext cx="13929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—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Plan de la présentation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280642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37817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85950" y="2480667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&amp; problématique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059757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16932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85950" y="3259782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État de l'art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moteurs d'échecs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3838873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096048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85950" y="4038898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Données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collecte Lichess &amp; dataset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5397103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617988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75163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85950" y="4818013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67750" y="2280642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9" name="Text 17"/>
          <p:cNvSpPr/>
          <p:nvPr/>
        </p:nvSpPr>
        <p:spPr>
          <a:xfrm>
            <a:off x="8667750" y="2537817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0700" y="2480667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Analyse exploratoire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67750" y="3059757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2" name="Text 20"/>
          <p:cNvSpPr/>
          <p:nvPr/>
        </p:nvSpPr>
        <p:spPr>
          <a:xfrm>
            <a:off x="8667750" y="3316932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0700" y="3259782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Modélisation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prédiction du Elo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67750" y="3838873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5" name="Text 23"/>
          <p:cNvSpPr/>
          <p:nvPr/>
        </p:nvSpPr>
        <p:spPr>
          <a:xfrm>
            <a:off x="8667750" y="4096048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0700" y="4038898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 comportemental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 joueurs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67750" y="5397103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8" name="Shape 26"/>
          <p:cNvSpPr/>
          <p:nvPr/>
        </p:nvSpPr>
        <p:spPr>
          <a:xfrm>
            <a:off x="8667750" y="4617988"/>
            <a:ext cx="67627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9" name="Text 27"/>
          <p:cNvSpPr/>
          <p:nvPr/>
        </p:nvSpPr>
        <p:spPr>
          <a:xfrm>
            <a:off x="8667750" y="4875163"/>
            <a:ext cx="552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0700" y="4818013"/>
            <a:ext cx="620039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&amp; perspectives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20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96679" y="533400"/>
            <a:ext cx="212452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00 — PRÉAMBULE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VOCABULAIRE — ÉCHECS &amp; NOS DONNÉES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 quoi parle-t-on,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concrètement 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878782"/>
            <a:ext cx="789765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TERMES-CLÉS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438823"/>
            <a:ext cx="78976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Position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3838873"/>
            <a:ext cx="789765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État de l'échiquier à un instant donné — pièces, droits de roque, trait à jouer.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741813"/>
            <a:ext cx="78976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Coup · demi-coup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43000" y="5141863"/>
            <a:ext cx="789765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coup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= blanc + noir. Un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demi-coup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= un seul des deux. Une partie ≈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80 demi-coups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6044803"/>
            <a:ext cx="78976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Partie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43000" y="6444853"/>
            <a:ext cx="789765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Séquence ordonnée de demi-coups, depuis la position initiale jusqu'au résultat.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7347793"/>
            <a:ext cx="78976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Elo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7747843"/>
            <a:ext cx="789765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Score numérique de force, ~1000 (débutant) à ~2800 (top mondial). C'est notre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cible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à prédire.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8650784"/>
            <a:ext cx="78976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Cadence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143000" y="9050834"/>
            <a:ext cx="78976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~1 min ·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3–5 min ·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10–15 min.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477375" y="2878782"/>
            <a:ext cx="789765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NOS DONNÉES — L'HISTORIQUE D'UNE PARTIE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77375" y="3438823"/>
            <a:ext cx="1752600" cy="1752600"/>
          </a:xfrm>
          <a:prstGeom prst="rect">
            <a:avLst/>
          </a:prstGeom>
          <a:ln w="19050">
            <a:solidFill>
              <a:srgbClr val="1A161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375" y="3438823"/>
            <a:ext cx="1752600" cy="1752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1496675" y="3438823"/>
            <a:ext cx="5648325" cy="2581052"/>
          </a:xfrm>
          <a:prstGeom prst="rect">
            <a:avLst/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53850" y="3657898"/>
            <a:ext cx="5287994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1.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e4 e5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1753850" y="4078858"/>
            <a:ext cx="5287994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2.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Nf3 Nc6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1753850" y="4499818"/>
            <a:ext cx="5287994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3.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Bb5 a6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1753850" y="4920779"/>
            <a:ext cx="5287994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4.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Ba4 Nf6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1753850" y="5379839"/>
            <a:ext cx="5287994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…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9477375" y="6324674"/>
            <a:ext cx="7667625" cy="20382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27" name="Shape 24"/>
          <p:cNvSpPr/>
          <p:nvPr/>
        </p:nvSpPr>
        <p:spPr>
          <a:xfrm>
            <a:off x="9477375" y="6324674"/>
            <a:ext cx="28575" cy="2038276"/>
          </a:xfrm>
          <a:prstGeom prst="rect">
            <a:avLst/>
          </a:prstGeom>
          <a:solidFill>
            <a:srgbClr val="8B3A1F"/>
          </a:solidFill>
          <a:ln/>
        </p:spPr>
      </p:sp>
      <p:sp>
        <p:nvSpPr>
          <p:cNvPr id="28" name="Text 25"/>
          <p:cNvSpPr/>
          <p:nvPr/>
        </p:nvSpPr>
        <p:spPr>
          <a:xfrm>
            <a:off x="9772650" y="6553274"/>
            <a:ext cx="731882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Pour chaque demi-coup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Lichess nous fournit :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9772650" y="7033320"/>
            <a:ext cx="2117601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53625" y="7119045"/>
            <a:ext cx="18318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 coup joué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1985501" y="7033320"/>
            <a:ext cx="3141762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166476" y="7119045"/>
            <a:ext cx="28740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l'évaluation moteur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772650" y="7631460"/>
            <a:ext cx="2702868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53625" y="7717185"/>
            <a:ext cx="24220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 temps utilisé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2570768" y="7631460"/>
            <a:ext cx="1532409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751743" y="7717185"/>
            <a:ext cx="12466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la phase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20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2977" y="533400"/>
            <a:ext cx="197822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— CONTEXTE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CONTEXTE &amp; MOTIVATION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moteur très fort n'est pas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bon partenaire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3069282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Les moteurs modernes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— Stockfish, AlphaZero, Leela —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dépassent largement le niveau humain.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136082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Pourtant, dans un contexte d'entraînement ou de jeu, on cherche un adversaire 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76290" y="5202882"/>
            <a:ext cx="77057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adapté au </a:t>
            </a:r>
            <a:pPr algn="l" indent="0" marL="0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niveau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 joueur,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76290" y="5629573"/>
            <a:ext cx="77057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dont les décisions restent </a:t>
            </a:r>
            <a:pPr algn="l" indent="0" marL="0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compréhensibles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6290" y="6056263"/>
            <a:ext cx="77057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capable de cibler ses </a:t>
            </a:r>
            <a:pPr algn="l" indent="0" marL="0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faiblesses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réelles.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0" y="3069282"/>
            <a:ext cx="7620000" cy="1809601"/>
          </a:xfrm>
          <a:prstGeom prst="roundRect">
            <a:avLst>
              <a:gd name="adj" fmla="val 210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15525" y="3421707"/>
            <a:ext cx="704411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LIMITE 1 — RÉDUIRE LA FORCE ≠ HUMANISER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15525" y="3886498"/>
            <a:ext cx="704411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Baisser la profondeur de Stockfish produit un adversaire plus faible, pas un adversaire plus </a:t>
            </a:r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humain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0" y="5107484"/>
            <a:ext cx="7620000" cy="1809601"/>
          </a:xfrm>
          <a:prstGeom prst="roundRect">
            <a:avLst>
              <a:gd name="adj" fmla="val 210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15525" y="5459909"/>
            <a:ext cx="704411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LIMITE 2 — NIVEAU ≠ STYLE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15525" y="5924699"/>
            <a:ext cx="704411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Deux joueurs au même Elo peuvent jouer de façons radicalement différentes : rythme, prise de risque, gestion des phases.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20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11486" y="533400"/>
            <a:ext cx="271251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— PROBLÉMATIQUE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648206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Peut-on estimer le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niveau 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d'un joueur — et décrire sa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manière de jouer 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— à partir de quelques parties ?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4149775"/>
            <a:ext cx="16002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845100"/>
            <a:ext cx="531083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OBJECTIF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5443240"/>
            <a:ext cx="531083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Construire un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dataset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 parties analysées depuis Lichess, par cadence.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65850" y="4845100"/>
            <a:ext cx="531091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OBJECTIF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850" y="5443240"/>
            <a:ext cx="531091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Prédire l'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Elo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à partir de features comportementales, même avec peu de parties.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988775" y="4845100"/>
            <a:ext cx="531083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OBJECTIF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88775" y="5443240"/>
            <a:ext cx="531083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Caractériser le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 de style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 joueur, indépendamment de son niveau.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20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11486" y="533400"/>
            <a:ext cx="271251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— ÉTAT DE L'ART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ÉTAT DE L'ART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Deux familles de moteurs d'échecs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738860"/>
            <a:ext cx="352038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240732"/>
            <a:ext cx="324499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MOTEUR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380" y="3738860"/>
            <a:ext cx="288034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4853880" y="3240732"/>
            <a:ext cx="258575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TYPE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726" y="3738860"/>
            <a:ext cx="538482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1" name="Text 9"/>
          <p:cNvSpPr/>
          <p:nvPr/>
        </p:nvSpPr>
        <p:spPr>
          <a:xfrm>
            <a:off x="7734226" y="3240732"/>
            <a:ext cx="516537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ÉVALUATION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928550" y="3738860"/>
            <a:ext cx="421645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3" name="Text 11"/>
          <p:cNvSpPr/>
          <p:nvPr/>
        </p:nvSpPr>
        <p:spPr>
          <a:xfrm>
            <a:off x="13119050" y="3240732"/>
            <a:ext cx="396194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RECHERCHE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422725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919835"/>
            <a:ext cx="32449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Stockfish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380" y="4422725"/>
            <a:ext cx="28803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7" name="Text 15"/>
          <p:cNvSpPr/>
          <p:nvPr/>
        </p:nvSpPr>
        <p:spPr>
          <a:xfrm>
            <a:off x="4853880" y="3919835"/>
            <a:ext cx="258575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Classique + NNUE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43726" y="4422725"/>
            <a:ext cx="538482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9" name="Text 17"/>
          <p:cNvSpPr/>
          <p:nvPr/>
        </p:nvSpPr>
        <p:spPr>
          <a:xfrm>
            <a:off x="7734226" y="3919835"/>
            <a:ext cx="516537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Fonction experte + réseau NNUE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928550" y="4422725"/>
            <a:ext cx="42164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119050" y="3919835"/>
            <a:ext cx="396194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Alpha-bêta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106591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4603700"/>
            <a:ext cx="32449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AlphaZero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63380" y="5106591"/>
            <a:ext cx="28803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5" name="Text 23"/>
          <p:cNvSpPr/>
          <p:nvPr/>
        </p:nvSpPr>
        <p:spPr>
          <a:xfrm>
            <a:off x="4853880" y="4603700"/>
            <a:ext cx="258575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Neuronal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43726" y="5106591"/>
            <a:ext cx="538482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7" name="Text 25"/>
          <p:cNvSpPr/>
          <p:nvPr/>
        </p:nvSpPr>
        <p:spPr>
          <a:xfrm>
            <a:off x="7734226" y="4603700"/>
            <a:ext cx="516537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Réseau neuronal (auto-jeu)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928550" y="5106591"/>
            <a:ext cx="42164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9" name="Text 27"/>
          <p:cNvSpPr/>
          <p:nvPr/>
        </p:nvSpPr>
        <p:spPr>
          <a:xfrm>
            <a:off x="13119050" y="4603700"/>
            <a:ext cx="396194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Monte Carlo Tree Search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5790456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" y="5287566"/>
            <a:ext cx="32449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Leela Chess Zero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63380" y="5790456"/>
            <a:ext cx="28803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3" name="Text 31"/>
          <p:cNvSpPr/>
          <p:nvPr/>
        </p:nvSpPr>
        <p:spPr>
          <a:xfrm>
            <a:off x="4853880" y="5287566"/>
            <a:ext cx="258575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Neuronal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43726" y="5790456"/>
            <a:ext cx="538482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5" name="Text 33"/>
          <p:cNvSpPr/>
          <p:nvPr/>
        </p:nvSpPr>
        <p:spPr>
          <a:xfrm>
            <a:off x="7734226" y="5287566"/>
            <a:ext cx="516537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Réseau neuronal (open-source)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928550" y="5790456"/>
            <a:ext cx="42164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7" name="Text 35"/>
          <p:cNvSpPr/>
          <p:nvPr/>
        </p:nvSpPr>
        <p:spPr>
          <a:xfrm>
            <a:off x="13119050" y="5287566"/>
            <a:ext cx="396194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Monte Carlo Tree Search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5799981"/>
            <a:ext cx="352038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3000" y="6474321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0" name="Text 38"/>
          <p:cNvSpPr/>
          <p:nvPr/>
        </p:nvSpPr>
        <p:spPr>
          <a:xfrm>
            <a:off x="1333500" y="5971431"/>
            <a:ext cx="32449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Maia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663380" y="5799981"/>
            <a:ext cx="2880345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380" y="6474321"/>
            <a:ext cx="28803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3" name="Text 41"/>
          <p:cNvSpPr/>
          <p:nvPr/>
        </p:nvSpPr>
        <p:spPr>
          <a:xfrm>
            <a:off x="4853880" y="5971431"/>
            <a:ext cx="258575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Humanisé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543726" y="5799981"/>
            <a:ext cx="5384825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45" name="Shape 43"/>
          <p:cNvSpPr/>
          <p:nvPr/>
        </p:nvSpPr>
        <p:spPr>
          <a:xfrm>
            <a:off x="7543726" y="6474321"/>
            <a:ext cx="538482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6" name="Text 44"/>
          <p:cNvSpPr/>
          <p:nvPr/>
        </p:nvSpPr>
        <p:spPr>
          <a:xfrm>
            <a:off x="7734226" y="5971431"/>
            <a:ext cx="516537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Prédit le coup humain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928550" y="5799981"/>
            <a:ext cx="421645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48" name="Shape 46"/>
          <p:cNvSpPr/>
          <p:nvPr/>
        </p:nvSpPr>
        <p:spPr>
          <a:xfrm>
            <a:off x="12928550" y="6474321"/>
            <a:ext cx="42164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9" name="Text 47"/>
          <p:cNvSpPr/>
          <p:nvPr/>
        </p:nvSpPr>
        <p:spPr>
          <a:xfrm>
            <a:off x="13119050" y="5971431"/>
            <a:ext cx="396194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Recherche guidée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43000" y="6869609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Stockfish, AlphaZero, Leela visent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meilleur coup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Maia, entraînée sur parties humaines de Lichess, vise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coup qu'un humain jouerait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20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11486" y="533400"/>
            <a:ext cx="271251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— ÉTAT DE L'ART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ADAPTER UN MOTEUR AU JOUEUR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niveau global 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style individuel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069282"/>
            <a:ext cx="3771900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3421707"/>
            <a:ext cx="308057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RÉDUIRE LA FORCE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3525" y="4217938"/>
            <a:ext cx="308057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Limiter la profondeur de Stockfish. </a:t>
            </a:r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→ Plus faible, pas plus humain.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19700" y="3069282"/>
            <a:ext cx="3771900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0225" y="3421707"/>
            <a:ext cx="308057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IMITER L'HUMAIN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10225" y="4217938"/>
            <a:ext cx="308057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Maia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entraîné par bucket Elo (1100, 1300, …, 1900). Prédit le coup typique d'un niveau.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96400" y="3069282"/>
            <a:ext cx="3771900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6925" y="3421707"/>
            <a:ext cx="30805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PERSONNALISER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86925" y="3886498"/>
            <a:ext cx="308057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Modèles fine-tunés par joueur.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Stylométrie comportementale.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73100" y="3069282"/>
            <a:ext cx="3771900" cy="2781002"/>
          </a:xfrm>
          <a:prstGeom prst="roundRect">
            <a:avLst>
              <a:gd name="adj" fmla="val 1370"/>
            </a:avLst>
          </a:prstGeom>
          <a:solidFill>
            <a:srgbClr val="ECE6DA"/>
          </a:solidFill>
          <a:ln w="9525">
            <a:solidFill>
              <a:srgbClr val="D9B8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63625" y="3421707"/>
            <a:ext cx="30805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· FEW-SHOT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63625" y="3886498"/>
            <a:ext cx="308057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Maia4All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adaptation à un joueur en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 parties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contre plusieurs milliers auparavant.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6421785"/>
            <a:ext cx="15154275" cy="1131540"/>
          </a:xfrm>
          <a:prstGeom prst="rect">
            <a:avLst/>
          </a:prstGeom>
          <a:solidFill>
            <a:srgbClr val="FFF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6421785"/>
            <a:ext cx="28575" cy="1131540"/>
          </a:xfrm>
          <a:prstGeom prst="rect">
            <a:avLst/>
          </a:prstGeom>
          <a:solidFill>
            <a:srgbClr val="8B3A1F"/>
          </a:solidFill>
          <a:ln/>
        </p:spPr>
      </p:sp>
      <p:sp>
        <p:nvSpPr>
          <p:cNvPr id="20" name="Text 18"/>
          <p:cNvSpPr/>
          <p:nvPr/>
        </p:nvSpPr>
        <p:spPr>
          <a:xfrm>
            <a:off x="1590675" y="6764685"/>
            <a:ext cx="14716125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Adapter, ce n'est pas seulement régler une force — c'est rapprocher le moteur du </a:t>
            </a:r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comportement </a:t>
            </a:r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 joueur.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20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89349" y="533400"/>
            <a:ext cx="18318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—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COLLECTE DES DONNÉES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700 joueurs × 30 parties,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 cadence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878782"/>
            <a:ext cx="7848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 unique :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highlight>
                  <a:srgbClr val="ECE6DA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lichess.org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via API.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545532"/>
            <a:ext cx="7848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Filtres au moment de la collecte 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270" y="4212282"/>
            <a:ext cx="772610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parties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classées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&amp; déjà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analysées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(eval moteur),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270" y="4578028"/>
            <a:ext cx="772610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horloge, ouverture &amp; PGN présents,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270" y="4943773"/>
            <a:ext cx="772610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cadence filtrée côté API : bullet / blitz / rapid,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270" y="5309518"/>
            <a:ext cx="772610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 buckets Elo équilibrés :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[1000–1400)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…,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[2000–2200]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980063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 joueur n'est conservé que si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 parties valides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sont obtenues dans la cadence ciblée.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0" y="3548360"/>
            <a:ext cx="176592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3050232"/>
            <a:ext cx="146112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CADENCE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290920" y="3548360"/>
            <a:ext cx="176592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05220" y="3050232"/>
            <a:ext cx="146112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JOUEURS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056840" y="3548360"/>
            <a:ext cx="176592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8" name="Text 16"/>
          <p:cNvSpPr/>
          <p:nvPr/>
        </p:nvSpPr>
        <p:spPr>
          <a:xfrm>
            <a:off x="13171140" y="3050232"/>
            <a:ext cx="146112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PARTIES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822760" y="3548360"/>
            <a:ext cx="232224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20" name="Text 18"/>
          <p:cNvSpPr/>
          <p:nvPr/>
        </p:nvSpPr>
        <p:spPr>
          <a:xfrm>
            <a:off x="14937060" y="3050232"/>
            <a:ext cx="201744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DEMI-COUPS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0" y="4232225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3729335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290920" y="4232225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4" name="Text 22"/>
          <p:cNvSpPr/>
          <p:nvPr/>
        </p:nvSpPr>
        <p:spPr>
          <a:xfrm>
            <a:off x="11405220" y="3729335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700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056840" y="4232225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6" name="Text 24"/>
          <p:cNvSpPr/>
          <p:nvPr/>
        </p:nvSpPr>
        <p:spPr>
          <a:xfrm>
            <a:off x="13171140" y="3729335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21 000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822760" y="4232225"/>
            <a:ext cx="23222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8" name="Text 26"/>
          <p:cNvSpPr/>
          <p:nvPr/>
        </p:nvSpPr>
        <p:spPr>
          <a:xfrm>
            <a:off x="14937060" y="3729335"/>
            <a:ext cx="20174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1 282 007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0" y="4916091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0" y="4413200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290920" y="4916091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2" name="Text 30"/>
          <p:cNvSpPr/>
          <p:nvPr/>
        </p:nvSpPr>
        <p:spPr>
          <a:xfrm>
            <a:off x="11405220" y="4413200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056840" y="4916091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4" name="Text 32"/>
          <p:cNvSpPr/>
          <p:nvPr/>
        </p:nvSpPr>
        <p:spPr>
          <a:xfrm>
            <a:off x="13171140" y="4413200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21 000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822760" y="4916091"/>
            <a:ext cx="23222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6" name="Text 34"/>
          <p:cNvSpPr/>
          <p:nvPr/>
        </p:nvSpPr>
        <p:spPr>
          <a:xfrm>
            <a:off x="14937060" y="4413200"/>
            <a:ext cx="20174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1 414 049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525000" y="5599956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8" name="Text 36"/>
          <p:cNvSpPr/>
          <p:nvPr/>
        </p:nvSpPr>
        <p:spPr>
          <a:xfrm>
            <a:off x="9715500" y="5097066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290920" y="5599956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0" name="Text 38"/>
          <p:cNvSpPr/>
          <p:nvPr/>
        </p:nvSpPr>
        <p:spPr>
          <a:xfrm>
            <a:off x="11405220" y="5097066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486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056840" y="5599956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2" name="Text 40"/>
          <p:cNvSpPr/>
          <p:nvPr/>
        </p:nvSpPr>
        <p:spPr>
          <a:xfrm>
            <a:off x="13171140" y="5097066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14 580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4822760" y="5599956"/>
            <a:ext cx="23222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4" name="Text 42"/>
          <p:cNvSpPr/>
          <p:nvPr/>
        </p:nvSpPr>
        <p:spPr>
          <a:xfrm>
            <a:off x="14937060" y="5097066"/>
            <a:ext cx="20174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984 913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525000" y="5609481"/>
            <a:ext cx="176592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46" name="Shape 44"/>
          <p:cNvSpPr/>
          <p:nvPr/>
        </p:nvSpPr>
        <p:spPr>
          <a:xfrm>
            <a:off x="9525000" y="6283821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7" name="Text 45"/>
          <p:cNvSpPr/>
          <p:nvPr/>
        </p:nvSpPr>
        <p:spPr>
          <a:xfrm>
            <a:off x="9715500" y="5780931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290920" y="5609481"/>
            <a:ext cx="176592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90920" y="6283821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0" name="Text 48"/>
          <p:cNvSpPr/>
          <p:nvPr/>
        </p:nvSpPr>
        <p:spPr>
          <a:xfrm>
            <a:off x="11405220" y="5780931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1 886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056840" y="5609481"/>
            <a:ext cx="176592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52" name="Shape 50"/>
          <p:cNvSpPr/>
          <p:nvPr/>
        </p:nvSpPr>
        <p:spPr>
          <a:xfrm>
            <a:off x="13056840" y="6283821"/>
            <a:ext cx="176592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3" name="Text 51"/>
          <p:cNvSpPr/>
          <p:nvPr/>
        </p:nvSpPr>
        <p:spPr>
          <a:xfrm>
            <a:off x="13171140" y="5780931"/>
            <a:ext cx="14611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56 580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822760" y="5609481"/>
            <a:ext cx="232224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55" name="Shape 53"/>
          <p:cNvSpPr/>
          <p:nvPr/>
        </p:nvSpPr>
        <p:spPr>
          <a:xfrm>
            <a:off x="14822760" y="6283821"/>
            <a:ext cx="23222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6" name="Text 54"/>
          <p:cNvSpPr/>
          <p:nvPr/>
        </p:nvSpPr>
        <p:spPr>
          <a:xfrm>
            <a:off x="14937060" y="5780931"/>
            <a:ext cx="20174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3 680 969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525000" y="6526709"/>
            <a:ext cx="78486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Corpus rapid plus réduit : moins de joueurs avec 30 parties classées + analysées disponibles.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20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89349" y="533400"/>
            <a:ext cx="18318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—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TROIS NIVEAUX D'ANALYSE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coup 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profil joueur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164532"/>
            <a:ext cx="4953000" cy="3110657"/>
          </a:xfrm>
          <a:prstGeom prst="roundRect">
            <a:avLst>
              <a:gd name="adj" fmla="val 122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3516957"/>
            <a:ext cx="429710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NIVEAU 1 · COUP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3525" y="3981748"/>
            <a:ext cx="42971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3 680 969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33525" y="4534198"/>
            <a:ext cx="429710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demi-coups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33525" y="5063728"/>
            <a:ext cx="41719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" name="Text 9"/>
          <p:cNvSpPr/>
          <p:nvPr/>
        </p:nvSpPr>
        <p:spPr>
          <a:xfrm>
            <a:off x="1533525" y="5282803"/>
            <a:ext cx="429710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highlight>
                  <a:srgbClr val="ECE6DA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cp_loss_clean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phase, temps utilisé, est-ce un blunder, capture, échec…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57900" y="3164532"/>
            <a:ext cx="647700" cy="314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45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→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6667500" y="3164532"/>
            <a:ext cx="4953000" cy="3110657"/>
          </a:xfrm>
          <a:prstGeom prst="roundRect">
            <a:avLst>
              <a:gd name="adj" fmla="val 122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8025" y="3516957"/>
            <a:ext cx="429710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NIVEAU 2 · PARTIE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58025" y="3981748"/>
            <a:ext cx="42971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56 580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058025" y="4534198"/>
            <a:ext cx="429710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58025" y="5063728"/>
            <a:ext cx="41719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8" name="Text 16"/>
          <p:cNvSpPr/>
          <p:nvPr/>
        </p:nvSpPr>
        <p:spPr>
          <a:xfrm>
            <a:off x="7058025" y="5282803"/>
            <a:ext cx="429710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highlight>
                  <a:srgbClr val="ECE6DA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loss_mean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highlight>
                  <a:srgbClr val="ECE6DA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rate_blunder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ouverture, résultat, couleur…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82400" y="3164532"/>
            <a:ext cx="647700" cy="314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45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→</a:t>
            </a:r>
            <a:endParaRPr lang="en-US" sz="4500" dirty="0"/>
          </a:p>
        </p:txBody>
      </p:sp>
      <p:sp>
        <p:nvSpPr>
          <p:cNvPr id="20" name="Shape 18"/>
          <p:cNvSpPr/>
          <p:nvPr/>
        </p:nvSpPr>
        <p:spPr>
          <a:xfrm>
            <a:off x="12192000" y="3164532"/>
            <a:ext cx="4953000" cy="3110657"/>
          </a:xfrm>
          <a:prstGeom prst="roundRect">
            <a:avLst>
              <a:gd name="adj" fmla="val 1225"/>
            </a:avLst>
          </a:prstGeom>
          <a:solidFill>
            <a:srgbClr val="ECE6DA"/>
          </a:solidFill>
          <a:ln w="9525">
            <a:solidFill>
              <a:srgbClr val="D9B8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82525" y="3516957"/>
            <a:ext cx="429710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NIVEAU 3 · JOUEUR × CADENCE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582525" y="3981748"/>
            <a:ext cx="42971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1 886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2582525" y="4534198"/>
            <a:ext cx="429710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582525" y="5063728"/>
            <a:ext cx="4171950" cy="9525"/>
          </a:xfrm>
          <a:prstGeom prst="rect">
            <a:avLst/>
          </a:prstGeom>
          <a:solidFill>
            <a:srgbClr val="D9B89C"/>
          </a:solidFill>
          <a:ln/>
        </p:spPr>
      </p:sp>
      <p:sp>
        <p:nvSpPr>
          <p:cNvPr id="25" name="Text 23"/>
          <p:cNvSpPr/>
          <p:nvPr/>
        </p:nvSpPr>
        <p:spPr>
          <a:xfrm>
            <a:off x="12582525" y="5282803"/>
            <a:ext cx="429710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Agrégation :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mean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median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std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iqr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219 variables → Elo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8688" y="6808589"/>
            <a:ext cx="1471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« Le Elo n'est pas une feature : c'est la cible. »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/ 20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33698" y="533400"/>
            <a:ext cx="361664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— FEATURE ENGINEERING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Sept familles,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219 variables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164532"/>
            <a:ext cx="3823841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3516957"/>
            <a:ext cx="31340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 · QUALITÉ DES COUPS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3525" y="4313188"/>
            <a:ext cx="313407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Perte en centipions : moyenne, médiane, p90, max. Taux de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blunder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mistake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95441" y="3164532"/>
            <a:ext cx="3823841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85966" y="3516957"/>
            <a:ext cx="313407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 · GESTION DU TEMPS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85966" y="3981748"/>
            <a:ext cx="31340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Temps moyen / médian / std,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good_fast_move_rate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fragilité sous faible temps.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47882" y="3164532"/>
            <a:ext cx="3823841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38407" y="3516957"/>
            <a:ext cx="31340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 · CONTEXTE DE L'ERREUR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38407" y="4313188"/>
            <a:ext cx="31340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Perte selon évaluation : position </a:t>
            </a:r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gagnante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équilibrée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 </a:t>
            </a:r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perdante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00323" y="3164532"/>
            <a:ext cx="3844603" cy="2781002"/>
          </a:xfrm>
          <a:prstGeom prst="roundRect">
            <a:avLst>
              <a:gd name="adj" fmla="val 137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90848" y="3516957"/>
            <a:ext cx="31554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 · PHASES DE JEU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90848" y="3981748"/>
            <a:ext cx="3155459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Ouverture, milieu, finale — séparément.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opening_vs_endgame_gap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6174135"/>
            <a:ext cx="3823841" cy="2449562"/>
          </a:xfrm>
          <a:prstGeom prst="roundRect">
            <a:avLst>
              <a:gd name="adj" fmla="val 155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3525" y="6526560"/>
            <a:ext cx="313407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 · STYLE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33525" y="6991350"/>
            <a:ext cx="31340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Taux de captures, d'échecs, de roque, longueur de partie, diversité d'ouvertures (ECO).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95441" y="6174135"/>
            <a:ext cx="3823841" cy="2449562"/>
          </a:xfrm>
          <a:prstGeom prst="roundRect">
            <a:avLst>
              <a:gd name="adj" fmla="val 155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5966" y="6526560"/>
            <a:ext cx="313407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 · STABILITÉ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85966" y="6991350"/>
            <a:ext cx="313407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Variance inter-parties, coefficients de variation, proportion de parties avec blunder.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47882" y="6174135"/>
            <a:ext cx="3823841" cy="2449562"/>
          </a:xfrm>
          <a:prstGeom prst="roundRect">
            <a:avLst>
              <a:gd name="adj" fmla="val 155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8407" y="6526560"/>
            <a:ext cx="313407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 · GLOBALES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38407" y="6991350"/>
            <a:ext cx="31340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Nombre de parties, win-rate, cadence dominante.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300323" y="6174135"/>
            <a:ext cx="3844603" cy="2449562"/>
          </a:xfrm>
          <a:prstGeom prst="roundRect">
            <a:avLst>
              <a:gd name="adj" fmla="val 1555"/>
            </a:avLst>
          </a:prstGeom>
          <a:solidFill>
            <a:srgbClr val="ECE6DA"/>
          </a:solidFill>
          <a:ln w="9525">
            <a:solidFill>
              <a:srgbClr val="D9B8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90848" y="6863135"/>
            <a:ext cx="3155459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Coups → Partie → Joueur, avec </a:t>
            </a:r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mean / median / std / IQR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à chaque niveau.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/ 20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487400" y="533400"/>
            <a:ext cx="3767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— ANALYSE EXPLORATOIRE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EDA · LA VARIABLE CIBLE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Distribution du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Elo 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dans le dataset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878782"/>
            <a:ext cx="789765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1 886 PROFILS JOUEUR-CADENCE · 5 BUCKETS STRATIFIÉS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770263"/>
            <a:ext cx="7667625" cy="42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8179073"/>
            <a:ext cx="789765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Cible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numérique continue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traitée en régression. Aucun outlier détecté par IQR.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77375" y="2878782"/>
            <a:ext cx="789765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STATISTIQUES DESCRIPTIVES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477375" y="3438823"/>
            <a:ext cx="3748087" cy="1398240"/>
          </a:xfrm>
          <a:prstGeom prst="roundRect">
            <a:avLst>
              <a:gd name="adj" fmla="val 272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53600" y="3676948"/>
            <a:ext cx="329150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MÉDIANE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53600" y="4065538"/>
            <a:ext cx="32915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1 653</a:t>
            </a:r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.5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13396913" y="3438823"/>
            <a:ext cx="3748087" cy="1398240"/>
          </a:xfrm>
          <a:prstGeom prst="roundRect">
            <a:avLst>
              <a:gd name="adj" fmla="val 272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673138" y="3676948"/>
            <a:ext cx="329150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MOYENNE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673138" y="4065538"/>
            <a:ext cx="32915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1 652</a:t>
            </a:r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.7</a:t>
            </a:r>
            <a:endParaRPr lang="en-US" sz="4200" dirty="0"/>
          </a:p>
        </p:txBody>
      </p:sp>
      <p:sp>
        <p:nvSpPr>
          <p:cNvPr id="16" name="Shape 13"/>
          <p:cNvSpPr/>
          <p:nvPr/>
        </p:nvSpPr>
        <p:spPr>
          <a:xfrm>
            <a:off x="9477375" y="5008513"/>
            <a:ext cx="3748087" cy="1398240"/>
          </a:xfrm>
          <a:prstGeom prst="roundRect">
            <a:avLst>
              <a:gd name="adj" fmla="val 272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53600" y="5246638"/>
            <a:ext cx="329150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ÉCART-TYPE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753600" y="5635228"/>
            <a:ext cx="32915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302</a:t>
            </a:r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.5</a:t>
            </a:r>
            <a:endParaRPr lang="en-US" sz="4200" dirty="0"/>
          </a:p>
        </p:txBody>
      </p:sp>
      <p:sp>
        <p:nvSpPr>
          <p:cNvPr id="19" name="Shape 16"/>
          <p:cNvSpPr/>
          <p:nvPr/>
        </p:nvSpPr>
        <p:spPr>
          <a:xfrm>
            <a:off x="13396913" y="5008513"/>
            <a:ext cx="3748087" cy="1398240"/>
          </a:xfrm>
          <a:prstGeom prst="roundRect">
            <a:avLst>
              <a:gd name="adj" fmla="val 272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673138" y="5246638"/>
            <a:ext cx="329150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ASYMÉTRIE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673138" y="5635228"/>
            <a:ext cx="32915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−0,16</a:t>
            </a:r>
            <a:endParaRPr lang="en-US" sz="4200" dirty="0"/>
          </a:p>
        </p:txBody>
      </p:sp>
      <p:sp>
        <p:nvSpPr>
          <p:cNvPr id="22" name="Shape 19"/>
          <p:cNvSpPr/>
          <p:nvPr/>
        </p:nvSpPr>
        <p:spPr>
          <a:xfrm>
            <a:off x="9477375" y="6635353"/>
            <a:ext cx="7667625" cy="124003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23" name="Shape 20"/>
          <p:cNvSpPr/>
          <p:nvPr/>
        </p:nvSpPr>
        <p:spPr>
          <a:xfrm>
            <a:off x="9477375" y="6635353"/>
            <a:ext cx="28575" cy="1240036"/>
          </a:xfrm>
          <a:prstGeom prst="rect">
            <a:avLst/>
          </a:prstGeom>
          <a:solidFill>
            <a:srgbClr val="8B3A1F"/>
          </a:solidFill>
          <a:ln/>
        </p:spPr>
      </p:sp>
      <p:sp>
        <p:nvSpPr>
          <p:cNvPr id="24" name="Text 21"/>
          <p:cNvSpPr/>
          <p:nvPr/>
        </p:nvSpPr>
        <p:spPr>
          <a:xfrm>
            <a:off x="9772650" y="6902053"/>
            <a:ext cx="21885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PLAGE OBSERVÉE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772650" y="7288709"/>
            <a:ext cx="218851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1 004 </a:t>
            </a:r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→ </a:t>
            </a:r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2 199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4991531" y="6902053"/>
            <a:ext cx="18867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OUTLIERS IQR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991531" y="7288709"/>
            <a:ext cx="188676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9477375" y="8084939"/>
            <a:ext cx="7897654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Distribution globalement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équilibrée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autour des niveaux intermédiaires. Seul le bucket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[2000–2200]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 moins peuplé — bullet et blitz le portent, le rapid n'y compte que 22 joueurs.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 / 21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487400" y="533400"/>
            <a:ext cx="3767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— ANALYSE EXPLORATOIRE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EDA · POURQUOI SÉPARER LES CADENCES 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Bullet, blitz, rapid :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distributions distinctes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548360"/>
            <a:ext cx="414017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050232"/>
            <a:ext cx="388338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FEATURE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83175" y="3548360"/>
            <a:ext cx="357507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5366423" y="3050232"/>
            <a:ext cx="3301327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P-VALUE ANOVA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232225"/>
            <a:ext cx="41401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3729335"/>
            <a:ext cx="38833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loss_mean_mean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83175" y="4232225"/>
            <a:ext cx="35750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" name="Text 11"/>
          <p:cNvSpPr/>
          <p:nvPr/>
        </p:nvSpPr>
        <p:spPr>
          <a:xfrm>
            <a:off x="5366423" y="3729335"/>
            <a:ext cx="330132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7.4 × 10⁻⁸⁹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916091"/>
            <a:ext cx="41401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413200"/>
            <a:ext cx="38833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rate_blunder_mean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83175" y="4916091"/>
            <a:ext cx="35750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7" name="Text 15"/>
          <p:cNvSpPr/>
          <p:nvPr/>
        </p:nvSpPr>
        <p:spPr>
          <a:xfrm>
            <a:off x="5366423" y="4413200"/>
            <a:ext cx="330132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2.6 × 10⁻³⁰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5599956"/>
            <a:ext cx="41401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5097066"/>
            <a:ext cx="38833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rate_error_mean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83175" y="5599956"/>
            <a:ext cx="35750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1" name="Text 19"/>
          <p:cNvSpPr/>
          <p:nvPr/>
        </p:nvSpPr>
        <p:spPr>
          <a:xfrm>
            <a:off x="5366423" y="5097066"/>
            <a:ext cx="330132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4.8 × 10⁻⁴⁵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283821"/>
            <a:ext cx="41401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5780931"/>
            <a:ext cx="38833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time_mean_s_mean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83175" y="6283821"/>
            <a:ext cx="35750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5" name="Text 23"/>
          <p:cNvSpPr/>
          <p:nvPr/>
        </p:nvSpPr>
        <p:spPr>
          <a:xfrm>
            <a:off x="5366423" y="5780931"/>
            <a:ext cx="330132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≈ 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6967686"/>
            <a:ext cx="41401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6464796"/>
            <a:ext cx="38833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n_moves_mean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283175" y="6967686"/>
            <a:ext cx="357507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9" name="Text 27"/>
          <p:cNvSpPr/>
          <p:nvPr/>
        </p:nvSpPr>
        <p:spPr>
          <a:xfrm>
            <a:off x="5366423" y="6464796"/>
            <a:ext cx="330132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1.2 × 10⁻⁶⁴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7248674"/>
            <a:ext cx="794670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Tous les tests rejettent l'hypothèse nulle avec une marge écrasante.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29750" y="2878782"/>
            <a:ext cx="79467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PERTE MOYENNE EN CENTIPIONS · PHASE × CADENCE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10850" y="3412182"/>
            <a:ext cx="2127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Bullet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33300" y="3412182"/>
            <a:ext cx="21272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Blitz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055825" y="3412182"/>
            <a:ext cx="2127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Rapid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429750" y="3850332"/>
            <a:ext cx="1123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Opening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648950" y="390748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48950" y="3907482"/>
            <a:ext cx="675382" cy="228600"/>
          </a:xfrm>
          <a:prstGeom prst="roundRect">
            <a:avLst>
              <a:gd name="adj" fmla="val 8333"/>
            </a:avLst>
          </a:prstGeom>
          <a:solidFill>
            <a:srgbClr val="D9B89C"/>
          </a:solidFill>
          <a:ln/>
        </p:spPr>
      </p:sp>
      <p:sp>
        <p:nvSpPr>
          <p:cNvPr id="38" name="Text 36"/>
          <p:cNvSpPr/>
          <p:nvPr/>
        </p:nvSpPr>
        <p:spPr>
          <a:xfrm>
            <a:off x="12075096" y="385033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43.1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871400" y="3907482"/>
            <a:ext cx="1407170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40" name="Shape 38"/>
          <p:cNvSpPr/>
          <p:nvPr/>
        </p:nvSpPr>
        <p:spPr>
          <a:xfrm>
            <a:off x="12871400" y="3907482"/>
            <a:ext cx="520601" cy="228600"/>
          </a:xfrm>
          <a:prstGeom prst="roundRect">
            <a:avLst>
              <a:gd name="adj" fmla="val 8333"/>
            </a:avLst>
          </a:prstGeom>
          <a:solidFill>
            <a:srgbClr val="D9B89C"/>
          </a:solidFill>
          <a:ln/>
        </p:spPr>
      </p:sp>
      <p:sp>
        <p:nvSpPr>
          <p:cNvPr id="41" name="Text 39"/>
          <p:cNvSpPr/>
          <p:nvPr/>
        </p:nvSpPr>
        <p:spPr>
          <a:xfrm>
            <a:off x="14297620" y="385033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33.7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093925" y="390748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43" name="Shape 41"/>
          <p:cNvSpPr/>
          <p:nvPr/>
        </p:nvSpPr>
        <p:spPr>
          <a:xfrm>
            <a:off x="15093925" y="3907482"/>
            <a:ext cx="590922" cy="228600"/>
          </a:xfrm>
          <a:prstGeom prst="roundRect">
            <a:avLst>
              <a:gd name="adj" fmla="val 8333"/>
            </a:avLst>
          </a:prstGeom>
          <a:solidFill>
            <a:srgbClr val="D9B89C"/>
          </a:solidFill>
          <a:ln/>
        </p:spPr>
      </p:sp>
      <p:sp>
        <p:nvSpPr>
          <p:cNvPr id="44" name="Text 42"/>
          <p:cNvSpPr/>
          <p:nvPr/>
        </p:nvSpPr>
        <p:spPr>
          <a:xfrm>
            <a:off x="16520071" y="385033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38.3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429750" y="4288482"/>
            <a:ext cx="1123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Middle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648950" y="434563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48950" y="434563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8B3A1F"/>
          </a:solidFill>
          <a:ln/>
        </p:spPr>
      </p:sp>
      <p:sp>
        <p:nvSpPr>
          <p:cNvPr id="48" name="Text 46"/>
          <p:cNvSpPr/>
          <p:nvPr/>
        </p:nvSpPr>
        <p:spPr>
          <a:xfrm>
            <a:off x="12075096" y="428848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90.6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2871400" y="4345632"/>
            <a:ext cx="1407170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50" name="Shape 48"/>
          <p:cNvSpPr/>
          <p:nvPr/>
        </p:nvSpPr>
        <p:spPr>
          <a:xfrm>
            <a:off x="12871400" y="4345632"/>
            <a:ext cx="1167929" cy="228600"/>
          </a:xfrm>
          <a:prstGeom prst="roundRect">
            <a:avLst>
              <a:gd name="adj" fmla="val 8333"/>
            </a:avLst>
          </a:prstGeom>
          <a:solidFill>
            <a:srgbClr val="8B3A1F"/>
          </a:solidFill>
          <a:ln/>
        </p:spPr>
      </p:sp>
      <p:sp>
        <p:nvSpPr>
          <p:cNvPr id="51" name="Text 49"/>
          <p:cNvSpPr/>
          <p:nvPr/>
        </p:nvSpPr>
        <p:spPr>
          <a:xfrm>
            <a:off x="14297620" y="428848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75.3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093925" y="434563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53" name="Shape 51"/>
          <p:cNvSpPr/>
          <p:nvPr/>
        </p:nvSpPr>
        <p:spPr>
          <a:xfrm>
            <a:off x="15093925" y="4345632"/>
            <a:ext cx="1252314" cy="228600"/>
          </a:xfrm>
          <a:prstGeom prst="roundRect">
            <a:avLst>
              <a:gd name="adj" fmla="val 8333"/>
            </a:avLst>
          </a:prstGeom>
          <a:solidFill>
            <a:srgbClr val="8B3A1F"/>
          </a:solidFill>
          <a:ln/>
        </p:spPr>
      </p:sp>
      <p:sp>
        <p:nvSpPr>
          <p:cNvPr id="54" name="Text 52"/>
          <p:cNvSpPr/>
          <p:nvPr/>
        </p:nvSpPr>
        <p:spPr>
          <a:xfrm>
            <a:off x="16520071" y="428848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80.7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429750" y="4726632"/>
            <a:ext cx="1123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Endgame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648950" y="478378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48950" y="4783782"/>
            <a:ext cx="1378893" cy="228600"/>
          </a:xfrm>
          <a:prstGeom prst="roundRect">
            <a:avLst>
              <a:gd name="adj" fmla="val 8333"/>
            </a:avLst>
          </a:prstGeom>
          <a:solidFill>
            <a:srgbClr val="8B3A1F"/>
          </a:solidFill>
          <a:ln/>
        </p:spPr>
      </p:sp>
      <p:sp>
        <p:nvSpPr>
          <p:cNvPr id="58" name="Text 56"/>
          <p:cNvSpPr/>
          <p:nvPr/>
        </p:nvSpPr>
        <p:spPr>
          <a:xfrm>
            <a:off x="12075096" y="472663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88.7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871400" y="4783782"/>
            <a:ext cx="1407170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60" name="Shape 58"/>
          <p:cNvSpPr/>
          <p:nvPr/>
        </p:nvSpPr>
        <p:spPr>
          <a:xfrm>
            <a:off x="12871400" y="4783782"/>
            <a:ext cx="1196057" cy="228600"/>
          </a:xfrm>
          <a:prstGeom prst="roundRect">
            <a:avLst>
              <a:gd name="adj" fmla="val 8333"/>
            </a:avLst>
          </a:prstGeom>
          <a:solidFill>
            <a:srgbClr val="8B3A1F"/>
          </a:solidFill>
          <a:ln/>
        </p:spPr>
      </p:sp>
      <p:sp>
        <p:nvSpPr>
          <p:cNvPr id="61" name="Text 59"/>
          <p:cNvSpPr/>
          <p:nvPr/>
        </p:nvSpPr>
        <p:spPr>
          <a:xfrm>
            <a:off x="14297620" y="472663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76.9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093925" y="4783782"/>
            <a:ext cx="1407096" cy="228600"/>
          </a:xfrm>
          <a:prstGeom prst="roundRect">
            <a:avLst>
              <a:gd name="adj" fmla="val 8333"/>
            </a:avLst>
          </a:prstGeom>
          <a:solidFill>
            <a:srgbClr val="ECE6DA"/>
          </a:solidFill>
          <a:ln/>
        </p:spPr>
      </p:sp>
      <p:sp>
        <p:nvSpPr>
          <p:cNvPr id="63" name="Shape 61"/>
          <p:cNvSpPr/>
          <p:nvPr/>
        </p:nvSpPr>
        <p:spPr>
          <a:xfrm>
            <a:off x="15093925" y="4783782"/>
            <a:ext cx="1195983" cy="228600"/>
          </a:xfrm>
          <a:prstGeom prst="roundRect">
            <a:avLst>
              <a:gd name="adj" fmla="val 8333"/>
            </a:avLst>
          </a:prstGeom>
          <a:solidFill>
            <a:srgbClr val="8B3A1F"/>
          </a:solidFill>
          <a:ln/>
        </p:spPr>
      </p:sp>
      <p:sp>
        <p:nvSpPr>
          <p:cNvPr id="64" name="Text 62"/>
          <p:cNvSpPr/>
          <p:nvPr/>
        </p:nvSpPr>
        <p:spPr>
          <a:xfrm>
            <a:off x="16520071" y="4726632"/>
            <a:ext cx="62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77.0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9429750" y="5298132"/>
            <a:ext cx="794670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Bullet systématiquement plus coûteux. La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reste presque aussi pénalisante que le milieu de jeu — voire plus, en blitz.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 / 21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487400" y="533400"/>
            <a:ext cx="3767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— ANALYSE EXPLORATOIRE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EDA · CE QUI PRÉDIT LE ELO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Corrélations clés &amp;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stabilité few-shot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3202632"/>
            <a:ext cx="794670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TOP CORRÉLATIONS DE SPEARMAN AVEC ELO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724573"/>
            <a:ext cx="53762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loss_opening_mean_mean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15100" y="3724573"/>
            <a:ext cx="933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−0.51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24750" y="3756943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10" name="Shape 8"/>
          <p:cNvSpPr/>
          <p:nvPr/>
        </p:nvSpPr>
        <p:spPr>
          <a:xfrm>
            <a:off x="7524750" y="3756943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08413"/>
            <a:ext cx="53762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loss_opening_mean_median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5100" y="4208413"/>
            <a:ext cx="933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−0.47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24750" y="4240783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524750" y="4240783"/>
            <a:ext cx="122679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92253"/>
            <a:ext cx="53762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loss_opening_mean_std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5100" y="4692253"/>
            <a:ext cx="933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−0.46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24750" y="4724623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4750" y="4724623"/>
            <a:ext cx="120015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176093"/>
            <a:ext cx="53762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n_moves_median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5100" y="5176093"/>
            <a:ext cx="933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A6B3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+0.42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24750" y="5208463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22" name="Shape 20"/>
          <p:cNvSpPr/>
          <p:nvPr/>
        </p:nvSpPr>
        <p:spPr>
          <a:xfrm>
            <a:off x="7524750" y="5208463"/>
            <a:ext cx="1093440" cy="266700"/>
          </a:xfrm>
          <a:prstGeom prst="roundRect">
            <a:avLst>
              <a:gd name="adj" fmla="val 7143"/>
            </a:avLst>
          </a:prstGeom>
          <a:solidFill>
            <a:srgbClr val="D9B89C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659934"/>
            <a:ext cx="53762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loss_p90_mean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15100" y="5659934"/>
            <a:ext cx="933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−0.40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24750" y="5692304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26" name="Shape 24"/>
          <p:cNvSpPr/>
          <p:nvPr/>
        </p:nvSpPr>
        <p:spPr>
          <a:xfrm>
            <a:off x="7524750" y="5692304"/>
            <a:ext cx="1040085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6143774"/>
            <a:ext cx="537629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loss_when_equal_iqr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15100" y="6143774"/>
            <a:ext cx="9334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−0.37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24750" y="6176144"/>
            <a:ext cx="1333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30" name="Shape 28"/>
          <p:cNvSpPr/>
          <p:nvPr/>
        </p:nvSpPr>
        <p:spPr>
          <a:xfrm>
            <a:off x="7524750" y="6176144"/>
            <a:ext cx="96009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6780014"/>
            <a:ext cx="794670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Les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pertes en ouverture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les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parties longues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et la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dispersion en position équilibrée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sont les signaux les plus forts.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29750" y="3202632"/>
            <a:ext cx="794670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STABILITÉ FEW-SHOT · MAE VS RÉFÉRENCE 30 PARTIES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29750" y="4394150"/>
            <a:ext cx="230505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4" name="Text 32"/>
          <p:cNvSpPr/>
          <p:nvPr/>
        </p:nvSpPr>
        <p:spPr>
          <a:xfrm>
            <a:off x="9620250" y="3896023"/>
            <a:ext cx="200025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PARTIES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734800" y="4394150"/>
            <a:ext cx="2705026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6" name="Text 34"/>
          <p:cNvSpPr/>
          <p:nvPr/>
        </p:nvSpPr>
        <p:spPr>
          <a:xfrm>
            <a:off x="11844149" y="3896023"/>
            <a:ext cx="240517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MAE MOYENNE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439826" y="4394150"/>
            <a:ext cx="2705174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8" name="Text 36"/>
          <p:cNvSpPr/>
          <p:nvPr/>
        </p:nvSpPr>
        <p:spPr>
          <a:xfrm>
            <a:off x="14549170" y="3896023"/>
            <a:ext cx="240533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MAE MÉDIANE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429750" y="5078016"/>
            <a:ext cx="23050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0" name="Text 38"/>
          <p:cNvSpPr/>
          <p:nvPr/>
        </p:nvSpPr>
        <p:spPr>
          <a:xfrm>
            <a:off x="9620250" y="4575125"/>
            <a:ext cx="2000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734800" y="5078016"/>
            <a:ext cx="270502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2" name="Text 40"/>
          <p:cNvSpPr/>
          <p:nvPr/>
        </p:nvSpPr>
        <p:spPr>
          <a:xfrm>
            <a:off x="11844149" y="4575125"/>
            <a:ext cx="24051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13.84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4439826" y="5078016"/>
            <a:ext cx="270517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4" name="Text 42"/>
          <p:cNvSpPr/>
          <p:nvPr/>
        </p:nvSpPr>
        <p:spPr>
          <a:xfrm>
            <a:off x="14549170" y="4575125"/>
            <a:ext cx="240533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15.64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429750" y="5761881"/>
            <a:ext cx="23050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6" name="Text 44"/>
          <p:cNvSpPr/>
          <p:nvPr/>
        </p:nvSpPr>
        <p:spPr>
          <a:xfrm>
            <a:off x="9620250" y="5258991"/>
            <a:ext cx="2000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734800" y="5761881"/>
            <a:ext cx="270502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8" name="Text 46"/>
          <p:cNvSpPr/>
          <p:nvPr/>
        </p:nvSpPr>
        <p:spPr>
          <a:xfrm>
            <a:off x="11844149" y="5258991"/>
            <a:ext cx="24051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10.24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4439826" y="5761881"/>
            <a:ext cx="270517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0" name="Text 48"/>
          <p:cNvSpPr/>
          <p:nvPr/>
        </p:nvSpPr>
        <p:spPr>
          <a:xfrm>
            <a:off x="14549170" y="5258991"/>
            <a:ext cx="240533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11.92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429750" y="6445746"/>
            <a:ext cx="23050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2" name="Text 50"/>
          <p:cNvSpPr/>
          <p:nvPr/>
        </p:nvSpPr>
        <p:spPr>
          <a:xfrm>
            <a:off x="9620250" y="5942856"/>
            <a:ext cx="2000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734800" y="6445746"/>
            <a:ext cx="270502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4" name="Text 52"/>
          <p:cNvSpPr/>
          <p:nvPr/>
        </p:nvSpPr>
        <p:spPr>
          <a:xfrm>
            <a:off x="11844149" y="5942856"/>
            <a:ext cx="24051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6.48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4439826" y="6445746"/>
            <a:ext cx="270517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6" name="Text 54"/>
          <p:cNvSpPr/>
          <p:nvPr/>
        </p:nvSpPr>
        <p:spPr>
          <a:xfrm>
            <a:off x="14549170" y="5942856"/>
            <a:ext cx="240533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7.56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429750" y="7129611"/>
            <a:ext cx="23050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8" name="Text 56"/>
          <p:cNvSpPr/>
          <p:nvPr/>
        </p:nvSpPr>
        <p:spPr>
          <a:xfrm>
            <a:off x="9620250" y="6626721"/>
            <a:ext cx="2000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1734800" y="7129611"/>
            <a:ext cx="270502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0" name="Text 58"/>
          <p:cNvSpPr/>
          <p:nvPr/>
        </p:nvSpPr>
        <p:spPr>
          <a:xfrm>
            <a:off x="11844149" y="6626721"/>
            <a:ext cx="24051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3.26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439826" y="7129611"/>
            <a:ext cx="270517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2" name="Text 60"/>
          <p:cNvSpPr/>
          <p:nvPr/>
        </p:nvSpPr>
        <p:spPr>
          <a:xfrm>
            <a:off x="14549170" y="6626721"/>
            <a:ext cx="240533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3.78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429750" y="7813477"/>
            <a:ext cx="23050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4" name="Text 62"/>
          <p:cNvSpPr/>
          <p:nvPr/>
        </p:nvSpPr>
        <p:spPr>
          <a:xfrm>
            <a:off x="9620250" y="7310586"/>
            <a:ext cx="20002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734800" y="7813477"/>
            <a:ext cx="270502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6" name="Text 64"/>
          <p:cNvSpPr/>
          <p:nvPr/>
        </p:nvSpPr>
        <p:spPr>
          <a:xfrm>
            <a:off x="11844149" y="7310586"/>
            <a:ext cx="24051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0.00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4439826" y="7813477"/>
            <a:ext cx="270517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8" name="Text 66"/>
          <p:cNvSpPr/>
          <p:nvPr/>
        </p:nvSpPr>
        <p:spPr>
          <a:xfrm>
            <a:off x="14549170" y="7310586"/>
            <a:ext cx="240533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0.00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429750" y="8094464"/>
            <a:ext cx="794670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À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 = 10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les features restent exploitables → bon compromis pour un nouvel utilisateur.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 / 21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657784" y="533400"/>
            <a:ext cx="256341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— MODÉLISATION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MODÉLISATION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Une régression supervisée,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 cadence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069282"/>
            <a:ext cx="5130775" cy="1809601"/>
          </a:xfrm>
          <a:prstGeom prst="roundRect">
            <a:avLst>
              <a:gd name="adj" fmla="val 210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3421707"/>
            <a:ext cx="448021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CIBLE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3525" y="3886498"/>
            <a:ext cx="448021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Elo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 joueur dans une cadence. Régression continue, 1004 → 2199.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78575" y="3069282"/>
            <a:ext cx="5130775" cy="1809601"/>
          </a:xfrm>
          <a:prstGeom prst="roundRect">
            <a:avLst>
              <a:gd name="adj" fmla="val 210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9100" y="3421707"/>
            <a:ext cx="448021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SPLIT JOUEUR · STRATIFIÉ ELO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69100" y="3886498"/>
            <a:ext cx="448021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64 / 16 / 20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train / val / test, séparation au niveau joueur.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14150" y="3069282"/>
            <a:ext cx="5130850" cy="1809601"/>
          </a:xfrm>
          <a:prstGeom prst="roundRect">
            <a:avLst>
              <a:gd name="adj" fmla="val 2105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04675" y="3421707"/>
            <a:ext cx="448029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MÉTRIQUES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04675" y="3886498"/>
            <a:ext cx="448029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MAE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(en points Elo) · RMSE · R². Plusieurs seeds.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5412284"/>
            <a:ext cx="16002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993309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80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MODÈLES TESTÉS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6553349"/>
            <a:ext cx="2702868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3975" y="6639074"/>
            <a:ext cx="24220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Ridge (baseline)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79218" y="6553349"/>
            <a:ext cx="2263973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193" y="6639074"/>
            <a:ext cx="197822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76541" y="6553349"/>
            <a:ext cx="1386111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7516" y="6639074"/>
            <a:ext cx="11003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XGBoost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96002" y="6553349"/>
            <a:ext cx="1532409" cy="502890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 w="9525">
            <a:solidFill>
              <a:srgbClr val="8B3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6977" y="6639074"/>
            <a:ext cx="12466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FFFCF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LightGBM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61761" y="6553349"/>
            <a:ext cx="1532409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2736" y="6639074"/>
            <a:ext cx="12466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CatBoost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227519" y="6553349"/>
            <a:ext cx="1532409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08494" y="6639074"/>
            <a:ext cx="12466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Stacking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893278" y="6553349"/>
            <a:ext cx="2556570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074253" y="6639074"/>
            <a:ext cx="227131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DeepSets · mean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3000" y="7189589"/>
            <a:ext cx="3288060" cy="50289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3975" y="7275314"/>
            <a:ext cx="302475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DeepSets · attention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8225879"/>
            <a:ext cx="147161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Quatre expériences progressives — d'un corpus large à une logique </a:t>
            </a:r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few-shot par cadence</a:t>
            </a:r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 / 21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657784" y="533400"/>
            <a:ext cx="256341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— MODÉLISATION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SYNTHÈSE DES 4 EXPÉRIENCES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Résultats &amp;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arbitrages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491210"/>
            <a:ext cx="80010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050232"/>
            <a:ext cx="6096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43100" y="3491210"/>
            <a:ext cx="352038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2076450" y="3050232"/>
            <a:ext cx="335929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APPROCHE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63480" y="3491210"/>
            <a:ext cx="144013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1" name="Text 9"/>
          <p:cNvSpPr/>
          <p:nvPr/>
        </p:nvSpPr>
        <p:spPr>
          <a:xfrm>
            <a:off x="5596830" y="3050232"/>
            <a:ext cx="124963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CADENCE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03616" y="3491210"/>
            <a:ext cx="416049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3" name="Text 11"/>
          <p:cNvSpPr/>
          <p:nvPr/>
        </p:nvSpPr>
        <p:spPr>
          <a:xfrm>
            <a:off x="7036966" y="3050232"/>
            <a:ext cx="401860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MEILLEUR MODÈLE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064106" y="3491210"/>
            <a:ext cx="224023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5" name="Text 13"/>
          <p:cNvSpPr/>
          <p:nvPr/>
        </p:nvSpPr>
        <p:spPr>
          <a:xfrm>
            <a:off x="11121256" y="3050232"/>
            <a:ext cx="204973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MAE (ELO)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304341" y="3491210"/>
            <a:ext cx="1280145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7" name="Text 15"/>
          <p:cNvSpPr/>
          <p:nvPr/>
        </p:nvSpPr>
        <p:spPr>
          <a:xfrm>
            <a:off x="13361491" y="3050232"/>
            <a:ext cx="108964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R²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584487" y="3491210"/>
            <a:ext cx="2560513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9" name="Text 17"/>
          <p:cNvSpPr/>
          <p:nvPr/>
        </p:nvSpPr>
        <p:spPr>
          <a:xfrm>
            <a:off x="14717837" y="3050232"/>
            <a:ext cx="2370629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NOTE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4519910"/>
            <a:ext cx="8001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" y="3595985"/>
            <a:ext cx="6096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943100" y="4519910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3" name="Text 21"/>
          <p:cNvSpPr/>
          <p:nvPr/>
        </p:nvSpPr>
        <p:spPr>
          <a:xfrm>
            <a:off x="2076450" y="3595985"/>
            <a:ext cx="335929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Baseline globale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1000 joueurs × 100 parties, cadences mélangées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63480" y="451991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5" name="Text 23"/>
          <p:cNvSpPr/>
          <p:nvPr/>
        </p:nvSpPr>
        <p:spPr>
          <a:xfrm>
            <a:off x="5596830" y="3595985"/>
            <a:ext cx="124963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616" y="451991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7" name="Text 25"/>
          <p:cNvSpPr/>
          <p:nvPr/>
        </p:nvSpPr>
        <p:spPr>
          <a:xfrm>
            <a:off x="7036966" y="3595985"/>
            <a:ext cx="401860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Stacking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064106" y="451991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9" name="Text 27"/>
          <p:cNvSpPr/>
          <p:nvPr/>
        </p:nvSpPr>
        <p:spPr>
          <a:xfrm>
            <a:off x="11121256" y="3595985"/>
            <a:ext cx="204973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100.1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304341" y="451991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1" name="Text 29"/>
          <p:cNvSpPr/>
          <p:nvPr/>
        </p:nvSpPr>
        <p:spPr>
          <a:xfrm>
            <a:off x="13361491" y="3595985"/>
            <a:ext cx="10896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0.84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4584487" y="451991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3" name="Text 31"/>
          <p:cNvSpPr/>
          <p:nvPr/>
        </p:nvSpPr>
        <p:spPr>
          <a:xfrm>
            <a:off x="14717837" y="3595985"/>
            <a:ext cx="23706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 optimiste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3000" y="5948660"/>
            <a:ext cx="8001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5" name="Text 33"/>
          <p:cNvSpPr/>
          <p:nvPr/>
        </p:nvSpPr>
        <p:spPr>
          <a:xfrm>
            <a:off x="1276350" y="4624685"/>
            <a:ext cx="609600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943100" y="5948660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7" name="Text 35"/>
          <p:cNvSpPr/>
          <p:nvPr/>
        </p:nvSpPr>
        <p:spPr>
          <a:xfrm>
            <a:off x="2076450" y="4624685"/>
            <a:ext cx="335929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Séparation par cadence + pruning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V8-B · suppression features négatives, N = 10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63480" y="499616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9" name="Text 37"/>
          <p:cNvSpPr/>
          <p:nvPr/>
        </p:nvSpPr>
        <p:spPr>
          <a:xfrm>
            <a:off x="5596830" y="462468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903616" y="499616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1" name="Text 39"/>
          <p:cNvSpPr/>
          <p:nvPr/>
        </p:nvSpPr>
        <p:spPr>
          <a:xfrm>
            <a:off x="7036966" y="462468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Ridge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064106" y="499616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3" name="Text 41"/>
          <p:cNvSpPr/>
          <p:nvPr/>
        </p:nvSpPr>
        <p:spPr>
          <a:xfrm>
            <a:off x="11121256" y="462468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174.9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3304341" y="499616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5" name="Text 43"/>
          <p:cNvSpPr/>
          <p:nvPr/>
        </p:nvSpPr>
        <p:spPr>
          <a:xfrm>
            <a:off x="13361491" y="462468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0.51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4584487" y="499616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7" name="Text 45"/>
          <p:cNvSpPr/>
          <p:nvPr/>
        </p:nvSpPr>
        <p:spPr>
          <a:xfrm>
            <a:off x="14717837" y="462468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117 features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463480" y="547241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9" name="Text 47"/>
          <p:cNvSpPr/>
          <p:nvPr/>
        </p:nvSpPr>
        <p:spPr>
          <a:xfrm>
            <a:off x="5596830" y="510093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903616" y="547241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1" name="Text 49"/>
          <p:cNvSpPr/>
          <p:nvPr/>
        </p:nvSpPr>
        <p:spPr>
          <a:xfrm>
            <a:off x="7036966" y="510093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XGB / LightGBM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11064106" y="547241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3" name="Text 51"/>
          <p:cNvSpPr/>
          <p:nvPr/>
        </p:nvSpPr>
        <p:spPr>
          <a:xfrm>
            <a:off x="11121256" y="510093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156.2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3304341" y="547241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5" name="Text 53"/>
          <p:cNvSpPr/>
          <p:nvPr/>
        </p:nvSpPr>
        <p:spPr>
          <a:xfrm>
            <a:off x="13361491" y="510093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0.57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4584487" y="547241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7" name="Text 55"/>
          <p:cNvSpPr/>
          <p:nvPr/>
        </p:nvSpPr>
        <p:spPr>
          <a:xfrm>
            <a:off x="14717837" y="510093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133 features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5463480" y="594866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9" name="Text 57"/>
          <p:cNvSpPr/>
          <p:nvPr/>
        </p:nvSpPr>
        <p:spPr>
          <a:xfrm>
            <a:off x="5596830" y="557718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903616" y="594866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1" name="Text 59"/>
          <p:cNvSpPr/>
          <p:nvPr/>
        </p:nvSpPr>
        <p:spPr>
          <a:xfrm>
            <a:off x="7036966" y="557718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XGB / LightGBM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1064106" y="594866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3" name="Text 61"/>
          <p:cNvSpPr/>
          <p:nvPr/>
        </p:nvSpPr>
        <p:spPr>
          <a:xfrm>
            <a:off x="11121256" y="557718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153.3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3304341" y="594866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5" name="Text 63"/>
          <p:cNvSpPr/>
          <p:nvPr/>
        </p:nvSpPr>
        <p:spPr>
          <a:xfrm>
            <a:off x="13361491" y="557718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0.52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4584487" y="594866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7" name="Text 65"/>
          <p:cNvSpPr/>
          <p:nvPr/>
        </p:nvSpPr>
        <p:spPr>
          <a:xfrm>
            <a:off x="14717837" y="557718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 features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143000" y="7377410"/>
            <a:ext cx="8001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9" name="Text 67"/>
          <p:cNvSpPr/>
          <p:nvPr/>
        </p:nvSpPr>
        <p:spPr>
          <a:xfrm>
            <a:off x="1276350" y="6053435"/>
            <a:ext cx="609600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943100" y="7377410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1" name="Text 69"/>
          <p:cNvSpPr/>
          <p:nvPr/>
        </p:nvSpPr>
        <p:spPr>
          <a:xfrm>
            <a:off x="2076450" y="6053435"/>
            <a:ext cx="335929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Embeddings neuronaux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DeepSets · mean / attention, ajoutés au V8-B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5463480" y="642491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3" name="Text 71"/>
          <p:cNvSpPr/>
          <p:nvPr/>
        </p:nvSpPr>
        <p:spPr>
          <a:xfrm>
            <a:off x="5596830" y="605343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6903616" y="642491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5" name="Text 73"/>
          <p:cNvSpPr/>
          <p:nvPr/>
        </p:nvSpPr>
        <p:spPr>
          <a:xfrm>
            <a:off x="7036966" y="605343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V8-B + emb. mean + LightGBM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11064106" y="642491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7" name="Text 75"/>
          <p:cNvSpPr/>
          <p:nvPr/>
        </p:nvSpPr>
        <p:spPr>
          <a:xfrm>
            <a:off x="11121256" y="605343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174.3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13304341" y="642491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9" name="Text 77"/>
          <p:cNvSpPr/>
          <p:nvPr/>
        </p:nvSpPr>
        <p:spPr>
          <a:xfrm>
            <a:off x="13361491" y="605343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0.55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4584487" y="642491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1" name="Text 79"/>
          <p:cNvSpPr/>
          <p:nvPr/>
        </p:nvSpPr>
        <p:spPr>
          <a:xfrm>
            <a:off x="14717837" y="605343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5463480" y="690116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3" name="Text 81"/>
          <p:cNvSpPr/>
          <p:nvPr/>
        </p:nvSpPr>
        <p:spPr>
          <a:xfrm>
            <a:off x="5596830" y="652968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6903616" y="690116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5" name="Text 83"/>
          <p:cNvSpPr/>
          <p:nvPr/>
        </p:nvSpPr>
        <p:spPr>
          <a:xfrm>
            <a:off x="7036966" y="652968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V8-B + emb. mean + LightGBM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11064106" y="690116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7" name="Text 85"/>
          <p:cNvSpPr/>
          <p:nvPr/>
        </p:nvSpPr>
        <p:spPr>
          <a:xfrm>
            <a:off x="11121256" y="652968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159.7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3304341" y="690116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9" name="Text 87"/>
          <p:cNvSpPr/>
          <p:nvPr/>
        </p:nvSpPr>
        <p:spPr>
          <a:xfrm>
            <a:off x="13361491" y="652968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0.58</a:t>
            </a: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14584487" y="690116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1" name="Text 89"/>
          <p:cNvSpPr/>
          <p:nvPr/>
        </p:nvSpPr>
        <p:spPr>
          <a:xfrm>
            <a:off x="14717837" y="652968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5463480" y="737741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3" name="Text 91"/>
          <p:cNvSpPr/>
          <p:nvPr/>
        </p:nvSpPr>
        <p:spPr>
          <a:xfrm>
            <a:off x="5596830" y="700593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903616" y="737741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5" name="Text 93"/>
          <p:cNvSpPr/>
          <p:nvPr/>
        </p:nvSpPr>
        <p:spPr>
          <a:xfrm>
            <a:off x="7036966" y="700593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V8-B + emb. attention + LightGBM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064106" y="737741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7" name="Text 95"/>
          <p:cNvSpPr/>
          <p:nvPr/>
        </p:nvSpPr>
        <p:spPr>
          <a:xfrm>
            <a:off x="11121256" y="700593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137.4</a:t>
            </a:r>
            <a:endParaRPr lang="en-US" sz="1500" dirty="0"/>
          </a:p>
        </p:txBody>
      </p:sp>
      <p:sp>
        <p:nvSpPr>
          <p:cNvPr id="98" name="Shape 96"/>
          <p:cNvSpPr/>
          <p:nvPr/>
        </p:nvSpPr>
        <p:spPr>
          <a:xfrm>
            <a:off x="13304341" y="737741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9" name="Text 97"/>
          <p:cNvSpPr/>
          <p:nvPr/>
        </p:nvSpPr>
        <p:spPr>
          <a:xfrm>
            <a:off x="13361491" y="700593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0.58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14584487" y="737741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1" name="Text 99"/>
          <p:cNvSpPr/>
          <p:nvPr/>
        </p:nvSpPr>
        <p:spPr>
          <a:xfrm>
            <a:off x="14717837" y="700593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02" name="Shape 100"/>
          <p:cNvSpPr/>
          <p:nvPr/>
        </p:nvSpPr>
        <p:spPr>
          <a:xfrm>
            <a:off x="1143000" y="7386935"/>
            <a:ext cx="800100" cy="1498402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43000" y="8875812"/>
            <a:ext cx="8001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4" name="Text 102"/>
          <p:cNvSpPr/>
          <p:nvPr/>
        </p:nvSpPr>
        <p:spPr>
          <a:xfrm>
            <a:off x="1276350" y="7482185"/>
            <a:ext cx="609600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500" dirty="0"/>
          </a:p>
        </p:txBody>
      </p:sp>
      <p:sp>
        <p:nvSpPr>
          <p:cNvPr id="105" name="Shape 103"/>
          <p:cNvSpPr/>
          <p:nvPr/>
        </p:nvSpPr>
        <p:spPr>
          <a:xfrm>
            <a:off x="1943100" y="7386935"/>
            <a:ext cx="3520380" cy="1498402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943100" y="8875812"/>
            <a:ext cx="352038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7" name="Text 105"/>
          <p:cNvSpPr/>
          <p:nvPr/>
        </p:nvSpPr>
        <p:spPr>
          <a:xfrm>
            <a:off x="2076450" y="7482185"/>
            <a:ext cx="335929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Late aggregation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prédiction game-level + calibration Ridge</a:t>
            </a:r>
            <a:endParaRPr lang="en-US" sz="1500" dirty="0"/>
          </a:p>
        </p:txBody>
      </p:sp>
      <p:sp>
        <p:nvSpPr>
          <p:cNvPr id="108" name="Shape 106"/>
          <p:cNvSpPr/>
          <p:nvPr/>
        </p:nvSpPr>
        <p:spPr>
          <a:xfrm>
            <a:off x="5463480" y="7386935"/>
            <a:ext cx="1440135" cy="476250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463480" y="7853660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0" name="Text 108"/>
          <p:cNvSpPr/>
          <p:nvPr/>
        </p:nvSpPr>
        <p:spPr>
          <a:xfrm>
            <a:off x="5596830" y="7482185"/>
            <a:ext cx="1249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</a:t>
            </a:r>
            <a:endParaRPr lang="en-US" sz="1500" dirty="0"/>
          </a:p>
        </p:txBody>
      </p:sp>
      <p:sp>
        <p:nvSpPr>
          <p:cNvPr id="111" name="Shape 109"/>
          <p:cNvSpPr/>
          <p:nvPr/>
        </p:nvSpPr>
        <p:spPr>
          <a:xfrm>
            <a:off x="6903616" y="7386935"/>
            <a:ext cx="4160490" cy="476250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903616" y="7853660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3" name="Text 111"/>
          <p:cNvSpPr/>
          <p:nvPr/>
        </p:nvSpPr>
        <p:spPr>
          <a:xfrm>
            <a:off x="7036966" y="7482185"/>
            <a:ext cx="40186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+ calibration Ridge</a:t>
            </a:r>
            <a:endParaRPr lang="en-US" sz="1500" dirty="0"/>
          </a:p>
        </p:txBody>
      </p:sp>
      <p:sp>
        <p:nvSpPr>
          <p:cNvPr id="114" name="Shape 112"/>
          <p:cNvSpPr/>
          <p:nvPr/>
        </p:nvSpPr>
        <p:spPr>
          <a:xfrm>
            <a:off x="11064106" y="7386935"/>
            <a:ext cx="2240235" cy="476250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1064106" y="7853660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6" name="Text 114"/>
          <p:cNvSpPr/>
          <p:nvPr/>
        </p:nvSpPr>
        <p:spPr>
          <a:xfrm>
            <a:off x="11121256" y="7482185"/>
            <a:ext cx="20497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154.7</a:t>
            </a:r>
            <a:endParaRPr lang="en-US" sz="1500" dirty="0"/>
          </a:p>
        </p:txBody>
      </p:sp>
      <p:sp>
        <p:nvSpPr>
          <p:cNvPr id="117" name="Shape 115"/>
          <p:cNvSpPr/>
          <p:nvPr/>
        </p:nvSpPr>
        <p:spPr>
          <a:xfrm>
            <a:off x="13304341" y="7386935"/>
            <a:ext cx="1280145" cy="476250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3304341" y="7853660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9" name="Text 117"/>
          <p:cNvSpPr/>
          <p:nvPr/>
        </p:nvSpPr>
        <p:spPr>
          <a:xfrm>
            <a:off x="13361491" y="7482185"/>
            <a:ext cx="1089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0.57</a:t>
            </a:r>
            <a:endParaRPr lang="en-US" sz="1500" dirty="0"/>
          </a:p>
        </p:txBody>
      </p:sp>
      <p:sp>
        <p:nvSpPr>
          <p:cNvPr id="120" name="Shape 118"/>
          <p:cNvSpPr/>
          <p:nvPr/>
        </p:nvSpPr>
        <p:spPr>
          <a:xfrm>
            <a:off x="14584487" y="7386935"/>
            <a:ext cx="2560513" cy="476250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4584487" y="7853660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2" name="Text 120"/>
          <p:cNvSpPr/>
          <p:nvPr/>
        </p:nvSpPr>
        <p:spPr>
          <a:xfrm>
            <a:off x="14717837" y="7482185"/>
            <a:ext cx="237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sans emb.</a:t>
            </a:r>
            <a:endParaRPr lang="en-US" sz="1500" dirty="0"/>
          </a:p>
        </p:txBody>
      </p:sp>
      <p:sp>
        <p:nvSpPr>
          <p:cNvPr id="123" name="Shape 121"/>
          <p:cNvSpPr/>
          <p:nvPr/>
        </p:nvSpPr>
        <p:spPr>
          <a:xfrm>
            <a:off x="5463480" y="7863185"/>
            <a:ext cx="1440135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463480" y="8364736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5" name="Text 123"/>
          <p:cNvSpPr/>
          <p:nvPr/>
        </p:nvSpPr>
        <p:spPr>
          <a:xfrm>
            <a:off x="5596830" y="7958435"/>
            <a:ext cx="124963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</a:t>
            </a:r>
            <a:endParaRPr lang="en-US" sz="1500" dirty="0"/>
          </a:p>
        </p:txBody>
      </p:sp>
      <p:sp>
        <p:nvSpPr>
          <p:cNvPr id="126" name="Shape 124"/>
          <p:cNvSpPr/>
          <p:nvPr/>
        </p:nvSpPr>
        <p:spPr>
          <a:xfrm>
            <a:off x="6903616" y="7863185"/>
            <a:ext cx="4160490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903616" y="8364736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8" name="Text 126"/>
          <p:cNvSpPr/>
          <p:nvPr/>
        </p:nvSpPr>
        <p:spPr>
          <a:xfrm>
            <a:off x="7036966" y="7958435"/>
            <a:ext cx="401860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highlight>
                  <a:srgbClr val="ECE6DA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Weighted log n</a:t>
            </a:r>
            <a:pPr algn="l" indent="0" marL="0">
              <a:lnSpc>
                <a:spcPct val="145000"/>
              </a:lnSpc>
              <a:buNone/>
            </a:pPr>
            <a:r>
              <a:rPr lang="en-US" sz="1250" baseline="-400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moves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highlight>
                  <a:srgbClr val="ECE6DA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+ emb. + Ridge</a:t>
            </a:r>
            <a:endParaRPr lang="en-US" sz="1500" dirty="0"/>
          </a:p>
        </p:txBody>
      </p:sp>
      <p:sp>
        <p:nvSpPr>
          <p:cNvPr id="129" name="Shape 127"/>
          <p:cNvSpPr/>
          <p:nvPr/>
        </p:nvSpPr>
        <p:spPr>
          <a:xfrm>
            <a:off x="11064106" y="7863185"/>
            <a:ext cx="2240235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064106" y="8364736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1" name="Text 129"/>
          <p:cNvSpPr/>
          <p:nvPr/>
        </p:nvSpPr>
        <p:spPr>
          <a:xfrm>
            <a:off x="11121256" y="7958435"/>
            <a:ext cx="204973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150.6</a:t>
            </a:r>
            <a:endParaRPr lang="en-US" sz="1500" dirty="0"/>
          </a:p>
        </p:txBody>
      </p:sp>
      <p:sp>
        <p:nvSpPr>
          <p:cNvPr id="132" name="Shape 130"/>
          <p:cNvSpPr/>
          <p:nvPr/>
        </p:nvSpPr>
        <p:spPr>
          <a:xfrm>
            <a:off x="13304341" y="7863185"/>
            <a:ext cx="1280145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3304341" y="8364736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4" name="Text 132"/>
          <p:cNvSpPr/>
          <p:nvPr/>
        </p:nvSpPr>
        <p:spPr>
          <a:xfrm>
            <a:off x="13361491" y="7958435"/>
            <a:ext cx="108964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0.59</a:t>
            </a:r>
            <a:endParaRPr lang="en-US" sz="1500" dirty="0"/>
          </a:p>
        </p:txBody>
      </p:sp>
      <p:sp>
        <p:nvSpPr>
          <p:cNvPr id="135" name="Shape 133"/>
          <p:cNvSpPr/>
          <p:nvPr/>
        </p:nvSpPr>
        <p:spPr>
          <a:xfrm>
            <a:off x="14584487" y="7863185"/>
            <a:ext cx="2560513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4584487" y="8364736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7" name="Text 135"/>
          <p:cNvSpPr/>
          <p:nvPr/>
        </p:nvSpPr>
        <p:spPr>
          <a:xfrm>
            <a:off x="14717837" y="7958435"/>
            <a:ext cx="2370629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avec emb.</a:t>
            </a:r>
            <a:endParaRPr lang="en-US" sz="1500" dirty="0"/>
          </a:p>
        </p:txBody>
      </p:sp>
      <p:sp>
        <p:nvSpPr>
          <p:cNvPr id="138" name="Shape 136"/>
          <p:cNvSpPr/>
          <p:nvPr/>
        </p:nvSpPr>
        <p:spPr>
          <a:xfrm>
            <a:off x="5463480" y="8374261"/>
            <a:ext cx="1440135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463480" y="8875812"/>
            <a:ext cx="14401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40" name="Text 138"/>
          <p:cNvSpPr/>
          <p:nvPr/>
        </p:nvSpPr>
        <p:spPr>
          <a:xfrm>
            <a:off x="5596830" y="8469511"/>
            <a:ext cx="124963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</a:t>
            </a:r>
            <a:endParaRPr lang="en-US" sz="1500" dirty="0"/>
          </a:p>
        </p:txBody>
      </p:sp>
      <p:sp>
        <p:nvSpPr>
          <p:cNvPr id="141" name="Shape 139"/>
          <p:cNvSpPr/>
          <p:nvPr/>
        </p:nvSpPr>
        <p:spPr>
          <a:xfrm>
            <a:off x="6903616" y="8374261"/>
            <a:ext cx="4160490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6903616" y="8875812"/>
            <a:ext cx="416049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43" name="Text 141"/>
          <p:cNvSpPr/>
          <p:nvPr/>
        </p:nvSpPr>
        <p:spPr>
          <a:xfrm>
            <a:off x="7036966" y="8469511"/>
            <a:ext cx="401860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highlight>
                  <a:srgbClr val="ECE6DA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Weighted log n</a:t>
            </a:r>
            <a:pPr algn="l" indent="0" marL="0">
              <a:lnSpc>
                <a:spcPct val="145000"/>
              </a:lnSpc>
              <a:buNone/>
            </a:pPr>
            <a:r>
              <a:rPr lang="en-US" sz="1250" baseline="-400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moves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A1612"/>
                </a:solidFill>
                <a:highlight>
                  <a:srgbClr val="ECE6DA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+ calibration Ridge</a:t>
            </a:r>
            <a:endParaRPr lang="en-US" sz="1500" dirty="0"/>
          </a:p>
        </p:txBody>
      </p:sp>
      <p:sp>
        <p:nvSpPr>
          <p:cNvPr id="144" name="Shape 142"/>
          <p:cNvSpPr/>
          <p:nvPr/>
        </p:nvSpPr>
        <p:spPr>
          <a:xfrm>
            <a:off x="11064106" y="8374261"/>
            <a:ext cx="2240235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1064106" y="8875812"/>
            <a:ext cx="224023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46" name="Text 144"/>
          <p:cNvSpPr/>
          <p:nvPr/>
        </p:nvSpPr>
        <p:spPr>
          <a:xfrm>
            <a:off x="11121256" y="8469511"/>
            <a:ext cx="204973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148.9</a:t>
            </a:r>
            <a:endParaRPr lang="en-US" sz="1500" dirty="0"/>
          </a:p>
        </p:txBody>
      </p:sp>
      <p:sp>
        <p:nvSpPr>
          <p:cNvPr id="147" name="Shape 145"/>
          <p:cNvSpPr/>
          <p:nvPr/>
        </p:nvSpPr>
        <p:spPr>
          <a:xfrm>
            <a:off x="13304341" y="8374261"/>
            <a:ext cx="1280145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3304341" y="8875812"/>
            <a:ext cx="1280145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49" name="Text 147"/>
          <p:cNvSpPr/>
          <p:nvPr/>
        </p:nvSpPr>
        <p:spPr>
          <a:xfrm>
            <a:off x="13361491" y="8469511"/>
            <a:ext cx="1089645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0.57</a:t>
            </a:r>
            <a:endParaRPr lang="en-US" sz="1500" dirty="0"/>
          </a:p>
        </p:txBody>
      </p:sp>
      <p:sp>
        <p:nvSpPr>
          <p:cNvPr id="150" name="Shape 148"/>
          <p:cNvSpPr/>
          <p:nvPr/>
        </p:nvSpPr>
        <p:spPr>
          <a:xfrm>
            <a:off x="14584487" y="8374261"/>
            <a:ext cx="2560513" cy="51107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4584487" y="8875812"/>
            <a:ext cx="256051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52" name="Text 150"/>
          <p:cNvSpPr/>
          <p:nvPr/>
        </p:nvSpPr>
        <p:spPr>
          <a:xfrm>
            <a:off x="14717837" y="8469511"/>
            <a:ext cx="2370629" cy="349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sans emb.</a:t>
            </a:r>
            <a:endParaRPr lang="en-US" sz="1500" dirty="0"/>
          </a:p>
        </p:txBody>
      </p:sp>
      <p:sp>
        <p:nvSpPr>
          <p:cNvPr id="153" name="Text 151"/>
          <p:cNvSpPr/>
          <p:nvPr/>
        </p:nvSpPr>
        <p:spPr>
          <a:xfrm>
            <a:off x="1143000" y="9061549"/>
            <a:ext cx="1648206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Avec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parties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on converge autour de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150 points Elo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 MAE. Les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embeddings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font la différence en rapid ; la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calibration Ridge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améliore nettement bullet et rapid.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Aucun modèle ne domine partout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l'arbitrage dépend de la cadence.</a:t>
            </a:r>
            <a:endParaRPr lang="en-US" sz="1650" dirty="0"/>
          </a:p>
        </p:txBody>
      </p:sp>
      <p:sp>
        <p:nvSpPr>
          <p:cNvPr id="154" name="Text 152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 / 21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41028" y="533400"/>
            <a:ext cx="39180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— PROFIL COMPORTEMENTAL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PROFIL COMPORTEMENTAL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Comparer chaque joueur à ses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pairs de niveau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878782"/>
            <a:ext cx="7620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35957"/>
            <a:ext cx="5524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85950" y="3078807"/>
            <a:ext cx="70833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Normalisation robuste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 = (x − médiane) / IQR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955107"/>
            <a:ext cx="7620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212282"/>
            <a:ext cx="5524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85950" y="4155132"/>
            <a:ext cx="70833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 dimensions de style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combinaisons signées de features cohérentes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5031432"/>
            <a:ext cx="7620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288607"/>
            <a:ext cx="5524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85950" y="5231457"/>
            <a:ext cx="70833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Correction par Elo prédit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retire l'effet « niveau » avant comparaison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6107757"/>
            <a:ext cx="7620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364932"/>
            <a:ext cx="5524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85950" y="6307782"/>
            <a:ext cx="70833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Comparaison locale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aux voisins en Elo prédit, même cadence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8260407"/>
            <a:ext cx="7620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7184082"/>
            <a:ext cx="762000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441257"/>
            <a:ext cx="5524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85950" y="7384107"/>
            <a:ext cx="70833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Attribution sémantique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traits dominants combinés en un profil lisible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0" y="3107382"/>
            <a:ext cx="78486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SEPT DIMENSIONS DE STYLE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0" y="4298900"/>
            <a:ext cx="3926532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3800773"/>
            <a:ext cx="3663328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SCORE +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451532" y="4298900"/>
            <a:ext cx="3693468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26" name="Text 24"/>
          <p:cNvSpPr/>
          <p:nvPr/>
        </p:nvSpPr>
        <p:spPr>
          <a:xfrm>
            <a:off x="13642032" y="3800773"/>
            <a:ext cx="342327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SCORE 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0" y="4982766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8" name="Text 26"/>
          <p:cNvSpPr/>
          <p:nvPr/>
        </p:nvSpPr>
        <p:spPr>
          <a:xfrm>
            <a:off x="9715500" y="4479875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51532" y="4982766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0" name="Text 28"/>
          <p:cNvSpPr/>
          <p:nvPr/>
        </p:nvSpPr>
        <p:spPr>
          <a:xfrm>
            <a:off x="13642032" y="4479875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Lent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0" y="5666631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2" name="Text 30"/>
          <p:cNvSpPr/>
          <p:nvPr/>
        </p:nvSpPr>
        <p:spPr>
          <a:xfrm>
            <a:off x="9715500" y="5163741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Agressif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451532" y="5666631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4" name="Text 32"/>
          <p:cNvSpPr/>
          <p:nvPr/>
        </p:nvSpPr>
        <p:spPr>
          <a:xfrm>
            <a:off x="13642032" y="5163741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Calme / positionnel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25000" y="6350496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6" name="Text 34"/>
          <p:cNvSpPr/>
          <p:nvPr/>
        </p:nvSpPr>
        <p:spPr>
          <a:xfrm>
            <a:off x="9715500" y="5847606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Risqué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451532" y="6350496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8" name="Text 36"/>
          <p:cNvSpPr/>
          <p:nvPr/>
        </p:nvSpPr>
        <p:spPr>
          <a:xfrm>
            <a:off x="13642032" y="5847606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Propre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525000" y="7034361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0" name="Text 38"/>
          <p:cNvSpPr/>
          <p:nvPr/>
        </p:nvSpPr>
        <p:spPr>
          <a:xfrm>
            <a:off x="9715500" y="6531471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Sous pression temps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451532" y="7034361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2" name="Text 40"/>
          <p:cNvSpPr/>
          <p:nvPr/>
        </p:nvSpPr>
        <p:spPr>
          <a:xfrm>
            <a:off x="13642032" y="6531471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À l'aise au temps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525000" y="7718227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4" name="Text 42"/>
          <p:cNvSpPr/>
          <p:nvPr/>
        </p:nvSpPr>
        <p:spPr>
          <a:xfrm>
            <a:off x="9715500" y="7215336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Fragile en finale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3451532" y="7718227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6" name="Text 44"/>
          <p:cNvSpPr/>
          <p:nvPr/>
        </p:nvSpPr>
        <p:spPr>
          <a:xfrm>
            <a:off x="13642032" y="7215336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Stable en finale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525000" y="8402092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8" name="Text 46"/>
          <p:cNvSpPr/>
          <p:nvPr/>
        </p:nvSpPr>
        <p:spPr>
          <a:xfrm>
            <a:off x="9715500" y="7899202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Instable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451532" y="8402092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0" name="Text 48"/>
          <p:cNvSpPr/>
          <p:nvPr/>
        </p:nvSpPr>
        <p:spPr>
          <a:xfrm>
            <a:off x="13642032" y="7899202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Régulier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525000" y="9085957"/>
            <a:ext cx="3926532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2" name="Text 50"/>
          <p:cNvSpPr/>
          <p:nvPr/>
        </p:nvSpPr>
        <p:spPr>
          <a:xfrm>
            <a:off x="9715500" y="8583067"/>
            <a:ext cx="366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Convertit mal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3451532" y="9085957"/>
            <a:ext cx="3693468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4" name="Text 52"/>
          <p:cNvSpPr/>
          <p:nvPr/>
        </p:nvSpPr>
        <p:spPr>
          <a:xfrm>
            <a:off x="13642032" y="8583067"/>
            <a:ext cx="34232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Bon convertisseur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16 / 21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41028" y="533400"/>
            <a:ext cx="39180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— PROFIL COMPORTEMENTAL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QUALITÉ DES PROFILS SÉMANTIQUES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Lisibles, stables,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indépendants du niveau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357860"/>
            <a:ext cx="2218581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2859732"/>
            <a:ext cx="191378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PROTOCOLE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61581" y="3357860"/>
            <a:ext cx="1833563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3552081" y="2859732"/>
            <a:ext cx="15287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CADENCE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95143" y="3357860"/>
            <a:ext cx="1833563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1" name="Text 9"/>
          <p:cNvSpPr/>
          <p:nvPr/>
        </p:nvSpPr>
        <p:spPr>
          <a:xfrm>
            <a:off x="5309443" y="2859732"/>
            <a:ext cx="15287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PROFILS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28706" y="3357860"/>
            <a:ext cx="1833563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3" name="Text 11"/>
          <p:cNvSpPr/>
          <p:nvPr/>
        </p:nvSpPr>
        <p:spPr>
          <a:xfrm>
            <a:off x="7143006" y="2859732"/>
            <a:ext cx="15287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INTERP.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62268" y="3357860"/>
            <a:ext cx="2411164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5" name="Text 13"/>
          <p:cNvSpPr/>
          <p:nvPr/>
        </p:nvSpPr>
        <p:spPr>
          <a:xfrm>
            <a:off x="8976568" y="2859732"/>
            <a:ext cx="210636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ALIGNEMENT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273433" y="3357860"/>
            <a:ext cx="2218581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7" name="Text 15"/>
          <p:cNvSpPr/>
          <p:nvPr/>
        </p:nvSpPr>
        <p:spPr>
          <a:xfrm>
            <a:off x="11387733" y="2859732"/>
            <a:ext cx="191378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STABILITÉ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92014" y="3357860"/>
            <a:ext cx="2026146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9" name="Text 17"/>
          <p:cNvSpPr/>
          <p:nvPr/>
        </p:nvSpPr>
        <p:spPr>
          <a:xfrm>
            <a:off x="13606314" y="2859732"/>
            <a:ext cx="172134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COHÉSION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518160" y="3357860"/>
            <a:ext cx="1626840" cy="9525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21" name="Text 19"/>
          <p:cNvSpPr/>
          <p:nvPr/>
        </p:nvSpPr>
        <p:spPr>
          <a:xfrm>
            <a:off x="15632460" y="2859732"/>
            <a:ext cx="132204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Η² ELO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409456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3538835"/>
            <a:ext cx="1913781" cy="1737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30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361581" y="4041725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5" name="Text 23"/>
          <p:cNvSpPr/>
          <p:nvPr/>
        </p:nvSpPr>
        <p:spPr>
          <a:xfrm>
            <a:off x="3552081" y="3538835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195143" y="4041725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7" name="Text 25"/>
          <p:cNvSpPr/>
          <p:nvPr/>
        </p:nvSpPr>
        <p:spPr>
          <a:xfrm>
            <a:off x="5309443" y="3538835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028706" y="4041725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29" name="Text 27"/>
          <p:cNvSpPr/>
          <p:nvPr/>
        </p:nvSpPr>
        <p:spPr>
          <a:xfrm>
            <a:off x="7143006" y="3538835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98.3 %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62268" y="4041725"/>
            <a:ext cx="241116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1" name="Text 29"/>
          <p:cNvSpPr/>
          <p:nvPr/>
        </p:nvSpPr>
        <p:spPr>
          <a:xfrm>
            <a:off x="8976568" y="3538835"/>
            <a:ext cx="21063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0.94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273433" y="4041725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3" name="Text 31"/>
          <p:cNvSpPr/>
          <p:nvPr/>
        </p:nvSpPr>
        <p:spPr>
          <a:xfrm>
            <a:off x="11387733" y="3538835"/>
            <a:ext cx="19137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0.72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492014" y="4041725"/>
            <a:ext cx="202614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5" name="Text 33"/>
          <p:cNvSpPr/>
          <p:nvPr/>
        </p:nvSpPr>
        <p:spPr>
          <a:xfrm>
            <a:off x="13606314" y="3538835"/>
            <a:ext cx="17213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0.64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518160" y="4041725"/>
            <a:ext cx="16268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7" name="Text 35"/>
          <p:cNvSpPr/>
          <p:nvPr/>
        </p:nvSpPr>
        <p:spPr>
          <a:xfrm>
            <a:off x="15632460" y="3538835"/>
            <a:ext cx="13220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0.038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361581" y="4725591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9" name="Text 37"/>
          <p:cNvSpPr/>
          <p:nvPr/>
        </p:nvSpPr>
        <p:spPr>
          <a:xfrm>
            <a:off x="3552081" y="4222700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195143" y="4725591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1" name="Text 39"/>
          <p:cNvSpPr/>
          <p:nvPr/>
        </p:nvSpPr>
        <p:spPr>
          <a:xfrm>
            <a:off x="5309443" y="4222700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028706" y="4725591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3" name="Text 41"/>
          <p:cNvSpPr/>
          <p:nvPr/>
        </p:nvSpPr>
        <p:spPr>
          <a:xfrm>
            <a:off x="7143006" y="4222700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97.7 %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862268" y="4725591"/>
            <a:ext cx="241116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5" name="Text 43"/>
          <p:cNvSpPr/>
          <p:nvPr/>
        </p:nvSpPr>
        <p:spPr>
          <a:xfrm>
            <a:off x="8976568" y="4222700"/>
            <a:ext cx="21063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0.93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273433" y="4725591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7" name="Text 45"/>
          <p:cNvSpPr/>
          <p:nvPr/>
        </p:nvSpPr>
        <p:spPr>
          <a:xfrm>
            <a:off x="11387733" y="4222700"/>
            <a:ext cx="19137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0.72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3492014" y="4725591"/>
            <a:ext cx="202614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49" name="Text 47"/>
          <p:cNvSpPr/>
          <p:nvPr/>
        </p:nvSpPr>
        <p:spPr>
          <a:xfrm>
            <a:off x="13606314" y="4222700"/>
            <a:ext cx="17213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518160" y="4725591"/>
            <a:ext cx="16268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1" name="Text 49"/>
          <p:cNvSpPr/>
          <p:nvPr/>
        </p:nvSpPr>
        <p:spPr>
          <a:xfrm>
            <a:off x="15632460" y="4222700"/>
            <a:ext cx="13220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0.043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361581" y="5409456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3" name="Text 51"/>
          <p:cNvSpPr/>
          <p:nvPr/>
        </p:nvSpPr>
        <p:spPr>
          <a:xfrm>
            <a:off x="3552081" y="4906566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195143" y="5409456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5" name="Text 53"/>
          <p:cNvSpPr/>
          <p:nvPr/>
        </p:nvSpPr>
        <p:spPr>
          <a:xfrm>
            <a:off x="5309443" y="4906566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19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028706" y="5409456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7" name="Text 55"/>
          <p:cNvSpPr/>
          <p:nvPr/>
        </p:nvSpPr>
        <p:spPr>
          <a:xfrm>
            <a:off x="7143006" y="4906566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97.7 %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862268" y="5409456"/>
            <a:ext cx="241116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59" name="Text 57"/>
          <p:cNvSpPr/>
          <p:nvPr/>
        </p:nvSpPr>
        <p:spPr>
          <a:xfrm>
            <a:off x="8976568" y="4906566"/>
            <a:ext cx="21063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0.95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1273433" y="5409456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1" name="Text 59"/>
          <p:cNvSpPr/>
          <p:nvPr/>
        </p:nvSpPr>
        <p:spPr>
          <a:xfrm>
            <a:off x="11387733" y="4906566"/>
            <a:ext cx="19137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0.76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3492014" y="5409456"/>
            <a:ext cx="202614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3" name="Text 61"/>
          <p:cNvSpPr/>
          <p:nvPr/>
        </p:nvSpPr>
        <p:spPr>
          <a:xfrm>
            <a:off x="13606314" y="4906566"/>
            <a:ext cx="17213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0.65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518160" y="5409456"/>
            <a:ext cx="16268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5" name="Text 63"/>
          <p:cNvSpPr/>
          <p:nvPr/>
        </p:nvSpPr>
        <p:spPr>
          <a:xfrm>
            <a:off x="15632460" y="4906566"/>
            <a:ext cx="13220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0.051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143000" y="5418981"/>
            <a:ext cx="2218581" cy="2051596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3000" y="7461052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68" name="Text 66"/>
          <p:cNvSpPr/>
          <p:nvPr/>
        </p:nvSpPr>
        <p:spPr>
          <a:xfrm>
            <a:off x="1333500" y="5590431"/>
            <a:ext cx="1913781" cy="1737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10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3361581" y="5418981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70" name="Shape 68"/>
          <p:cNvSpPr/>
          <p:nvPr/>
        </p:nvSpPr>
        <p:spPr>
          <a:xfrm>
            <a:off x="3361581" y="6093321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1" name="Text 69"/>
          <p:cNvSpPr/>
          <p:nvPr/>
        </p:nvSpPr>
        <p:spPr>
          <a:xfrm>
            <a:off x="3552081" y="5590431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Bullet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5195143" y="5418981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73" name="Shape 71"/>
          <p:cNvSpPr/>
          <p:nvPr/>
        </p:nvSpPr>
        <p:spPr>
          <a:xfrm>
            <a:off x="5195143" y="6093321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4" name="Text 72"/>
          <p:cNvSpPr/>
          <p:nvPr/>
        </p:nvSpPr>
        <p:spPr>
          <a:xfrm>
            <a:off x="5309443" y="5590431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23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028706" y="5418981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76" name="Shape 74"/>
          <p:cNvSpPr/>
          <p:nvPr/>
        </p:nvSpPr>
        <p:spPr>
          <a:xfrm>
            <a:off x="7028706" y="6093321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7" name="Text 75"/>
          <p:cNvSpPr/>
          <p:nvPr/>
        </p:nvSpPr>
        <p:spPr>
          <a:xfrm>
            <a:off x="7143006" y="5590431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97.7 %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8862268" y="5418981"/>
            <a:ext cx="2411164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79" name="Shape 77"/>
          <p:cNvSpPr/>
          <p:nvPr/>
        </p:nvSpPr>
        <p:spPr>
          <a:xfrm>
            <a:off x="8862268" y="6093321"/>
            <a:ext cx="241116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0" name="Text 78"/>
          <p:cNvSpPr/>
          <p:nvPr/>
        </p:nvSpPr>
        <p:spPr>
          <a:xfrm>
            <a:off x="8976568" y="5590431"/>
            <a:ext cx="21063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0.94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1273433" y="5418981"/>
            <a:ext cx="2218581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82" name="Shape 80"/>
          <p:cNvSpPr/>
          <p:nvPr/>
        </p:nvSpPr>
        <p:spPr>
          <a:xfrm>
            <a:off x="11273433" y="6093321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3" name="Text 81"/>
          <p:cNvSpPr/>
          <p:nvPr/>
        </p:nvSpPr>
        <p:spPr>
          <a:xfrm>
            <a:off x="11387733" y="5590431"/>
            <a:ext cx="19137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0.71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3492014" y="5418981"/>
            <a:ext cx="2026146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85" name="Shape 83"/>
          <p:cNvSpPr/>
          <p:nvPr/>
        </p:nvSpPr>
        <p:spPr>
          <a:xfrm>
            <a:off x="13492014" y="6093321"/>
            <a:ext cx="202614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6" name="Text 84"/>
          <p:cNvSpPr/>
          <p:nvPr/>
        </p:nvSpPr>
        <p:spPr>
          <a:xfrm>
            <a:off x="13606314" y="5590431"/>
            <a:ext cx="17213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0.64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518160" y="5418981"/>
            <a:ext cx="162684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88" name="Shape 86"/>
          <p:cNvSpPr/>
          <p:nvPr/>
        </p:nvSpPr>
        <p:spPr>
          <a:xfrm>
            <a:off x="15518160" y="6093321"/>
            <a:ext cx="16268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89" name="Text 87"/>
          <p:cNvSpPr/>
          <p:nvPr/>
        </p:nvSpPr>
        <p:spPr>
          <a:xfrm>
            <a:off x="15632460" y="5590431"/>
            <a:ext cx="13220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0.031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3361581" y="6102846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91" name="Shape 89"/>
          <p:cNvSpPr/>
          <p:nvPr/>
        </p:nvSpPr>
        <p:spPr>
          <a:xfrm>
            <a:off x="3361581" y="6777186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2" name="Text 90"/>
          <p:cNvSpPr/>
          <p:nvPr/>
        </p:nvSpPr>
        <p:spPr>
          <a:xfrm>
            <a:off x="3552081" y="6274296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Blitz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5195143" y="6102846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94" name="Shape 92"/>
          <p:cNvSpPr/>
          <p:nvPr/>
        </p:nvSpPr>
        <p:spPr>
          <a:xfrm>
            <a:off x="5195143" y="6777186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5" name="Text 93"/>
          <p:cNvSpPr/>
          <p:nvPr/>
        </p:nvSpPr>
        <p:spPr>
          <a:xfrm>
            <a:off x="5309443" y="6274296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21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7028706" y="6102846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97" name="Shape 95"/>
          <p:cNvSpPr/>
          <p:nvPr/>
        </p:nvSpPr>
        <p:spPr>
          <a:xfrm>
            <a:off x="7028706" y="6777186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98" name="Text 96"/>
          <p:cNvSpPr/>
          <p:nvPr/>
        </p:nvSpPr>
        <p:spPr>
          <a:xfrm>
            <a:off x="7143006" y="6274296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97.9 %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8862268" y="6102846"/>
            <a:ext cx="2411164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0" name="Shape 98"/>
          <p:cNvSpPr/>
          <p:nvPr/>
        </p:nvSpPr>
        <p:spPr>
          <a:xfrm>
            <a:off x="8862268" y="6777186"/>
            <a:ext cx="241116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1" name="Text 99"/>
          <p:cNvSpPr/>
          <p:nvPr/>
        </p:nvSpPr>
        <p:spPr>
          <a:xfrm>
            <a:off x="8976568" y="6274296"/>
            <a:ext cx="21063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0.94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11273433" y="6102846"/>
            <a:ext cx="2218581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273433" y="6777186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4" name="Text 102"/>
          <p:cNvSpPr/>
          <p:nvPr/>
        </p:nvSpPr>
        <p:spPr>
          <a:xfrm>
            <a:off x="11387733" y="6274296"/>
            <a:ext cx="19137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0.73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13492014" y="6102846"/>
            <a:ext cx="2026146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3492014" y="6777186"/>
            <a:ext cx="202614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7" name="Text 105"/>
          <p:cNvSpPr/>
          <p:nvPr/>
        </p:nvSpPr>
        <p:spPr>
          <a:xfrm>
            <a:off x="13606314" y="6274296"/>
            <a:ext cx="17213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0.64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15518160" y="6102846"/>
            <a:ext cx="162684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5518160" y="6777186"/>
            <a:ext cx="16268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0" name="Text 108"/>
          <p:cNvSpPr/>
          <p:nvPr/>
        </p:nvSpPr>
        <p:spPr>
          <a:xfrm>
            <a:off x="15632460" y="6274296"/>
            <a:ext cx="13220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0.040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3361581" y="6786711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361581" y="7461052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3" name="Text 111"/>
          <p:cNvSpPr/>
          <p:nvPr/>
        </p:nvSpPr>
        <p:spPr>
          <a:xfrm>
            <a:off x="3552081" y="6958161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Rapid</a:t>
            </a:r>
            <a:endParaRPr lang="en-US" sz="1800" dirty="0"/>
          </a:p>
        </p:txBody>
      </p:sp>
      <p:sp>
        <p:nvSpPr>
          <p:cNvPr id="114" name="Shape 112"/>
          <p:cNvSpPr/>
          <p:nvPr/>
        </p:nvSpPr>
        <p:spPr>
          <a:xfrm>
            <a:off x="5195143" y="6786711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195143" y="7461052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6" name="Text 114"/>
          <p:cNvSpPr/>
          <p:nvPr/>
        </p:nvSpPr>
        <p:spPr>
          <a:xfrm>
            <a:off x="5309443" y="6958161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16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7028706" y="6786711"/>
            <a:ext cx="1833563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028706" y="7461052"/>
            <a:ext cx="1833563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9" name="Text 117"/>
          <p:cNvSpPr/>
          <p:nvPr/>
        </p:nvSpPr>
        <p:spPr>
          <a:xfrm>
            <a:off x="7143006" y="6958161"/>
            <a:ext cx="15287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98.8 %</a:t>
            </a:r>
            <a:endParaRPr lang="en-US" sz="1800" dirty="0"/>
          </a:p>
        </p:txBody>
      </p:sp>
      <p:sp>
        <p:nvSpPr>
          <p:cNvPr id="120" name="Shape 118"/>
          <p:cNvSpPr/>
          <p:nvPr/>
        </p:nvSpPr>
        <p:spPr>
          <a:xfrm>
            <a:off x="8862268" y="6786711"/>
            <a:ext cx="2411164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862268" y="7461052"/>
            <a:ext cx="2411164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2" name="Text 120"/>
          <p:cNvSpPr/>
          <p:nvPr/>
        </p:nvSpPr>
        <p:spPr>
          <a:xfrm>
            <a:off x="8976568" y="6958161"/>
            <a:ext cx="21063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0.93</a:t>
            </a:r>
            <a:endParaRPr lang="en-US" sz="1800" dirty="0"/>
          </a:p>
        </p:txBody>
      </p:sp>
      <p:sp>
        <p:nvSpPr>
          <p:cNvPr id="123" name="Shape 121"/>
          <p:cNvSpPr/>
          <p:nvPr/>
        </p:nvSpPr>
        <p:spPr>
          <a:xfrm>
            <a:off x="11273433" y="6786711"/>
            <a:ext cx="2218581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1273433" y="7461052"/>
            <a:ext cx="2218581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5" name="Text 123"/>
          <p:cNvSpPr/>
          <p:nvPr/>
        </p:nvSpPr>
        <p:spPr>
          <a:xfrm>
            <a:off x="11387733" y="6958161"/>
            <a:ext cx="19137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0.79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13492014" y="6786711"/>
            <a:ext cx="2026146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3492014" y="7461052"/>
            <a:ext cx="2026146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28" name="Text 126"/>
          <p:cNvSpPr/>
          <p:nvPr/>
        </p:nvSpPr>
        <p:spPr>
          <a:xfrm>
            <a:off x="13606314" y="6958161"/>
            <a:ext cx="17213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0.65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15518160" y="6786711"/>
            <a:ext cx="1626840" cy="683865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5518160" y="7461052"/>
            <a:ext cx="162684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1" name="Text 129"/>
          <p:cNvSpPr/>
          <p:nvPr/>
        </p:nvSpPr>
        <p:spPr>
          <a:xfrm>
            <a:off x="15632460" y="6958161"/>
            <a:ext cx="13220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0.022</a:t>
            </a:r>
            <a:endParaRPr lang="en-US" sz="1800" dirty="0"/>
          </a:p>
        </p:txBody>
      </p:sp>
      <p:sp>
        <p:nvSpPr>
          <p:cNvPr id="132" name="Shape 130"/>
          <p:cNvSpPr/>
          <p:nvPr/>
        </p:nvSpPr>
        <p:spPr>
          <a:xfrm>
            <a:off x="1143000" y="7780139"/>
            <a:ext cx="5181600" cy="1619101"/>
          </a:xfrm>
          <a:prstGeom prst="roundRect">
            <a:avLst>
              <a:gd name="adj" fmla="val 2353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457325" y="8037314"/>
            <a:ext cx="46895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COHÉSION &lt; 1</a:t>
            </a:r>
            <a:endParaRPr lang="en-US" sz="1800" dirty="0"/>
          </a:p>
        </p:txBody>
      </p:sp>
      <p:sp>
        <p:nvSpPr>
          <p:cNvPr id="134" name="Text 132"/>
          <p:cNvSpPr/>
          <p:nvPr/>
        </p:nvSpPr>
        <p:spPr>
          <a:xfrm>
            <a:off x="1457325" y="8502104"/>
            <a:ext cx="468953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Joueurs d'un même profil plus proches que la moyenne globale.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6553200" y="7780139"/>
            <a:ext cx="5181600" cy="1619101"/>
          </a:xfrm>
          <a:prstGeom prst="roundRect">
            <a:avLst>
              <a:gd name="adj" fmla="val 2353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867525" y="8037314"/>
            <a:ext cx="46895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Η² ELO ≈ 0.03 – 0.05</a:t>
            </a:r>
            <a:endParaRPr lang="en-US" sz="1800" dirty="0"/>
          </a:p>
        </p:txBody>
      </p:sp>
      <p:sp>
        <p:nvSpPr>
          <p:cNvPr id="137" name="Text 135"/>
          <p:cNvSpPr/>
          <p:nvPr/>
        </p:nvSpPr>
        <p:spPr>
          <a:xfrm>
            <a:off x="6867525" y="8502104"/>
            <a:ext cx="468953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Les profils n'expliquent qu'une part marginale du Elo.</a:t>
            </a:r>
            <a:endParaRPr lang="en-US" sz="1800" dirty="0"/>
          </a:p>
        </p:txBody>
      </p:sp>
      <p:sp>
        <p:nvSpPr>
          <p:cNvPr id="138" name="Shape 136"/>
          <p:cNvSpPr/>
          <p:nvPr/>
        </p:nvSpPr>
        <p:spPr>
          <a:xfrm>
            <a:off x="11963400" y="7780139"/>
            <a:ext cx="5181600" cy="1619101"/>
          </a:xfrm>
          <a:prstGeom prst="roundRect">
            <a:avLst>
              <a:gd name="adj" fmla="val 2353"/>
            </a:avLst>
          </a:prstGeom>
          <a:solidFill>
            <a:srgbClr val="ECE6DA"/>
          </a:solidFill>
          <a:ln w="9525">
            <a:solidFill>
              <a:srgbClr val="D9B89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2277725" y="8037314"/>
            <a:ext cx="468953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ROBUSTESSE À 10 PARTIES</a:t>
            </a:r>
            <a:endParaRPr lang="en-US" sz="1800" dirty="0"/>
          </a:p>
        </p:txBody>
      </p:sp>
      <p:sp>
        <p:nvSpPr>
          <p:cNvPr id="140" name="Text 138"/>
          <p:cNvSpPr/>
          <p:nvPr/>
        </p:nvSpPr>
        <p:spPr>
          <a:xfrm>
            <a:off x="12277725" y="8502104"/>
            <a:ext cx="468953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Métriques quasi identiques entre N=30 et N=10.</a:t>
            </a:r>
            <a:endParaRPr lang="en-US" sz="1800" dirty="0"/>
          </a:p>
        </p:txBody>
      </p:sp>
      <p:sp>
        <p:nvSpPr>
          <p:cNvPr id="141" name="Text 139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 / 21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41028" y="533400"/>
            <a:ext cx="391809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— PROFIL COMPORTEMENTAL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LECTURE D'UN PROFIL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Deux joueurs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 même Elo</a:t>
            </a:r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, deux profils opposés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974032"/>
            <a:ext cx="7772400" cy="4284166"/>
          </a:xfrm>
          <a:prstGeom prst="roundRect">
            <a:avLst>
              <a:gd name="adj" fmla="val 889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1625" y="3364557"/>
            <a:ext cx="26418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JOUEUR · PROFIL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2155" y="3364557"/>
            <a:ext cx="22708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Blitz · Elo 1820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1625" y="3905548"/>
            <a:ext cx="7122605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spc="-84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rapide · agressif · instable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571625" y="4827538"/>
            <a:ext cx="69151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1" name="Text 9"/>
          <p:cNvSpPr/>
          <p:nvPr/>
        </p:nvSpPr>
        <p:spPr>
          <a:xfrm>
            <a:off x="1571625" y="5199013"/>
            <a:ext cx="88277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Rythme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0935" y="5199013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+1.4σ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15275" y="5231383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5275" y="5231383"/>
            <a:ext cx="44574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15" name="Text 13"/>
          <p:cNvSpPr/>
          <p:nvPr/>
        </p:nvSpPr>
        <p:spPr>
          <a:xfrm>
            <a:off x="1571625" y="5644753"/>
            <a:ext cx="12317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Agressivité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40935" y="5644753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+1.1σ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15275" y="5677123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18" name="Shape 16"/>
          <p:cNvSpPr/>
          <p:nvPr/>
        </p:nvSpPr>
        <p:spPr>
          <a:xfrm>
            <a:off x="7915275" y="5677123"/>
            <a:ext cx="38859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19" name="Text 17"/>
          <p:cNvSpPr/>
          <p:nvPr/>
        </p:nvSpPr>
        <p:spPr>
          <a:xfrm>
            <a:off x="1571625" y="6090493"/>
            <a:ext cx="9357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Stabilité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0935" y="6090493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−1.2σ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15275" y="6122863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15275" y="6122863"/>
            <a:ext cx="40005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23" name="Text 21"/>
          <p:cNvSpPr/>
          <p:nvPr/>
        </p:nvSpPr>
        <p:spPr>
          <a:xfrm>
            <a:off x="1571625" y="6536234"/>
            <a:ext cx="70581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40935" y="6536234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+0.2σ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915275" y="6568604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26" name="Shape 24"/>
          <p:cNvSpPr/>
          <p:nvPr/>
        </p:nvSpPr>
        <p:spPr>
          <a:xfrm>
            <a:off x="7915275" y="6568604"/>
            <a:ext cx="102840" cy="266700"/>
          </a:xfrm>
          <a:prstGeom prst="roundRect">
            <a:avLst>
              <a:gd name="adj" fmla="val 18524"/>
            </a:avLst>
          </a:prstGeom>
          <a:solidFill>
            <a:srgbClr val="8B3A1F"/>
          </a:solidFill>
          <a:ln/>
        </p:spPr>
      </p:sp>
      <p:sp>
        <p:nvSpPr>
          <p:cNvPr id="27" name="Shape 25"/>
          <p:cNvSpPr/>
          <p:nvPr/>
        </p:nvSpPr>
        <p:spPr>
          <a:xfrm>
            <a:off x="9372600" y="2974032"/>
            <a:ext cx="7772400" cy="4284166"/>
          </a:xfrm>
          <a:prstGeom prst="roundRect">
            <a:avLst>
              <a:gd name="adj" fmla="val 889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01225" y="3364557"/>
            <a:ext cx="26418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JOUEUR · PROFIL 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521755" y="3364557"/>
            <a:ext cx="227082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Blitz · Elo 1820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01225" y="3905548"/>
            <a:ext cx="7122605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spc="-84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lent · propre · fragile en finale</a:t>
            </a:r>
            <a:endParaRPr lang="en-US" sz="4200" dirty="0"/>
          </a:p>
        </p:txBody>
      </p:sp>
      <p:sp>
        <p:nvSpPr>
          <p:cNvPr id="31" name="Shape 29"/>
          <p:cNvSpPr/>
          <p:nvPr/>
        </p:nvSpPr>
        <p:spPr>
          <a:xfrm>
            <a:off x="9801225" y="4827538"/>
            <a:ext cx="69151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32" name="Text 30"/>
          <p:cNvSpPr/>
          <p:nvPr/>
        </p:nvSpPr>
        <p:spPr>
          <a:xfrm>
            <a:off x="9801225" y="5199013"/>
            <a:ext cx="88277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Rythme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470535" y="5199013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−1.0σ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6144875" y="5231383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35" name="Shape 33"/>
          <p:cNvSpPr/>
          <p:nvPr/>
        </p:nvSpPr>
        <p:spPr>
          <a:xfrm>
            <a:off x="16144875" y="5231383"/>
            <a:ext cx="342900" cy="266700"/>
          </a:xfrm>
          <a:prstGeom prst="roundRect">
            <a:avLst>
              <a:gd name="adj" fmla="val 7143"/>
            </a:avLst>
          </a:prstGeom>
          <a:solidFill>
            <a:srgbClr val="D9B89C"/>
          </a:solidFill>
          <a:ln/>
        </p:spPr>
      </p:sp>
      <p:sp>
        <p:nvSpPr>
          <p:cNvPr id="36" name="Text 34"/>
          <p:cNvSpPr/>
          <p:nvPr/>
        </p:nvSpPr>
        <p:spPr>
          <a:xfrm>
            <a:off x="9801225" y="5644753"/>
            <a:ext cx="793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Risque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470535" y="5644753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−0.9σ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6144875" y="5677123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39" name="Shape 37"/>
          <p:cNvSpPr/>
          <p:nvPr/>
        </p:nvSpPr>
        <p:spPr>
          <a:xfrm>
            <a:off x="16144875" y="5677123"/>
            <a:ext cx="319980" cy="266700"/>
          </a:xfrm>
          <a:prstGeom prst="roundRect">
            <a:avLst>
              <a:gd name="adj" fmla="val 7143"/>
            </a:avLst>
          </a:prstGeom>
          <a:solidFill>
            <a:srgbClr val="D9B89C"/>
          </a:solidFill>
          <a:ln/>
        </p:spPr>
      </p:sp>
      <p:sp>
        <p:nvSpPr>
          <p:cNvPr id="40" name="Text 38"/>
          <p:cNvSpPr/>
          <p:nvPr/>
        </p:nvSpPr>
        <p:spPr>
          <a:xfrm>
            <a:off x="9801225" y="6090493"/>
            <a:ext cx="9357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Stabilité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470535" y="6090493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+0.6σ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6144875" y="6122863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43" name="Shape 41"/>
          <p:cNvSpPr/>
          <p:nvPr/>
        </p:nvSpPr>
        <p:spPr>
          <a:xfrm>
            <a:off x="16144875" y="6122863"/>
            <a:ext cx="217140" cy="266700"/>
          </a:xfrm>
          <a:prstGeom prst="roundRect">
            <a:avLst>
              <a:gd name="adj" fmla="val 8773"/>
            </a:avLst>
          </a:prstGeom>
          <a:solidFill>
            <a:srgbClr val="D9B89C"/>
          </a:solidFill>
          <a:ln/>
        </p:spPr>
      </p:sp>
      <p:sp>
        <p:nvSpPr>
          <p:cNvPr id="44" name="Text 42"/>
          <p:cNvSpPr/>
          <p:nvPr/>
        </p:nvSpPr>
        <p:spPr>
          <a:xfrm>
            <a:off x="9801225" y="6536234"/>
            <a:ext cx="70581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5470535" y="6536234"/>
            <a:ext cx="75054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−1.3σ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6144875" y="6568604"/>
            <a:ext cx="571500" cy="266700"/>
          </a:xfrm>
          <a:prstGeom prst="roundRect">
            <a:avLst>
              <a:gd name="adj" fmla="val 7143"/>
            </a:avLst>
          </a:prstGeom>
          <a:solidFill>
            <a:srgbClr val="ECE6DA"/>
          </a:solidFill>
          <a:ln/>
        </p:spPr>
      </p:sp>
      <p:sp>
        <p:nvSpPr>
          <p:cNvPr id="47" name="Shape 45"/>
          <p:cNvSpPr/>
          <p:nvPr/>
        </p:nvSpPr>
        <p:spPr>
          <a:xfrm>
            <a:off x="16144875" y="6568604"/>
            <a:ext cx="445740" cy="266700"/>
          </a:xfrm>
          <a:prstGeom prst="roundRect">
            <a:avLst>
              <a:gd name="adj" fmla="val 7143"/>
            </a:avLst>
          </a:prstGeom>
          <a:solidFill>
            <a:srgbClr val="8B3A1F"/>
          </a:solidFill>
          <a:ln/>
        </p:spPr>
      </p:sp>
      <p:sp>
        <p:nvSpPr>
          <p:cNvPr id="48" name="Text 46"/>
          <p:cNvSpPr/>
          <p:nvPr/>
        </p:nvSpPr>
        <p:spPr>
          <a:xfrm>
            <a:off x="928688" y="7715399"/>
            <a:ext cx="1471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Même niveau, recommandations différentes : </a:t>
            </a:r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positions sous contrainte temporelle </a:t>
            </a:r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pour A, </a:t>
            </a:r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exercices de finale </a:t>
            </a:r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6E665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pour B.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 / 21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194729" y="533400"/>
            <a:ext cx="4068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— LIMITES &amp; PERSPECTIVES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LIMITES DU TRAVAIL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 que la méthode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ne fait pas encore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878782"/>
            <a:ext cx="77152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35957"/>
            <a:ext cx="55245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85950" y="3078807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Corpus rapid réduit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(486 joueurs)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Bucket [2000–2200] : seulement 22 joueurs.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932188"/>
            <a:ext cx="77152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189363"/>
            <a:ext cx="55245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85950" y="4132213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Bruit du few-shot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parties peuvent refléter une période atypique.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4985593"/>
            <a:ext cx="77152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242768"/>
            <a:ext cx="55245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85950" y="5185618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Profils ≠ classes naturelles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Espace continu plutôt que clusters séparés.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7092404"/>
            <a:ext cx="77152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6038999"/>
            <a:ext cx="7715250" cy="9525"/>
          </a:xfrm>
          <a:prstGeom prst="rect">
            <a:avLst/>
          </a:prstGeom>
          <a:solidFill>
            <a:srgbClr val="D9D1C2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296174"/>
            <a:ext cx="55245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85950" y="6239024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Features tabulaires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structure positionnelle (motifs, pions) reste implicite.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29750" y="3107382"/>
            <a:ext cx="794670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CE QUE CELA IMPLIQUE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29750" y="3934123"/>
            <a:ext cx="7946708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Les résultats à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 = 10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doivent être lus comme une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première estimation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utile pour démarrer une session d'entraînement, à raffiner ensuite avec les nouvelles parties du joueur.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29750" y="5810548"/>
            <a:ext cx="7715250" cy="1809601"/>
          </a:xfrm>
          <a:prstGeom prst="roundRect">
            <a:avLst>
              <a:gd name="adj" fmla="val 2105"/>
            </a:avLst>
          </a:prstGeom>
          <a:solidFill>
            <a:srgbClr val="ECE6DA"/>
          </a:solidFill>
          <a:ln w="9525">
            <a:solidFill>
              <a:srgbClr val="D9B8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0275" y="6162973"/>
            <a:ext cx="71422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CE QUI RESTE ROBUSTE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20275" y="6627763"/>
            <a:ext cx="714222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Profils simples (rapide, fragile en finale) plus stables que les combinaisons à 3+ traits.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19 / 21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271259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PMIND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1A161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SOUTENANCE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194729" y="533400"/>
            <a:ext cx="4068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— LIMITES &amp; PERSPECTIVES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04775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89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Vers un moteur </a:t>
            </a:r>
            <a:pPr algn="l" indent="0" marL="0">
              <a:lnSpc>
                <a:spcPct val="102000"/>
              </a:lnSpc>
              <a:buNone/>
            </a:pPr>
            <a:r>
              <a:rPr lang="en-US" sz="5400" i="1" spc="-81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réellement adaptatif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164532"/>
            <a:ext cx="5130775" cy="2461022"/>
          </a:xfrm>
          <a:prstGeom prst="roundRect">
            <a:avLst>
              <a:gd name="adj" fmla="val 1548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3516957"/>
            <a:ext cx="448021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REPRÉSENTATIONS PLUS RICHES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3525" y="4313188"/>
            <a:ext cx="448021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Embeddings de positions, motifs tactiques récurrents, structure de pions, activité des pièces.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78575" y="3164532"/>
            <a:ext cx="5130775" cy="2461022"/>
          </a:xfrm>
          <a:prstGeom prst="roundRect">
            <a:avLst>
              <a:gd name="adj" fmla="val 1548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9100" y="3516957"/>
            <a:ext cx="448021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PROFILS DYNAMIQUES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69100" y="3981748"/>
            <a:ext cx="448021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Mise à jour en continu au fil des nouvelles parties — suivre l'évolution du joueur.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14150" y="3164532"/>
            <a:ext cx="5130850" cy="2461022"/>
          </a:xfrm>
          <a:prstGeom prst="roundRect">
            <a:avLst>
              <a:gd name="adj" fmla="val 1548"/>
            </a:avLst>
          </a:prstGeom>
          <a:solidFill>
            <a:srgbClr val="FFFCF6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04675" y="3516957"/>
            <a:ext cx="448029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08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INTÉGRATION MOTEUR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04675" y="3981748"/>
            <a:ext cx="4480294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Génération d'exercices ciblés, simulation d'adversaires personnalisés, accompagnement pédagogique.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6387554"/>
            <a:ext cx="16002000" cy="9525"/>
          </a:xfrm>
          <a:prstGeom prst="rect">
            <a:avLst/>
          </a:prstGeom>
          <a:solidFill>
            <a:srgbClr val="D9D1C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778079"/>
            <a:ext cx="1143000" cy="1143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857500" y="6846689"/>
            <a:ext cx="1177290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Du moteur le plus fort, vers le moteur </a:t>
            </a:r>
            <a:pPr algn="l" indent="0" marL="0">
              <a:lnSpc>
                <a:spcPct val="120000"/>
              </a:lnSpc>
              <a:buNone/>
            </a:pPr>
            <a:r>
              <a:rPr lang="en-US" sz="330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mieux adapté</a:t>
            </a:r>
            <a:pPr algn="l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16056843" y="9479310"/>
            <a:ext cx="116435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 / 21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464324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SORBONNE UNIVERSITÉ · M1 MIND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636996" y="666750"/>
            <a:ext cx="464324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FIN DE PRÉSENTATION — 21 / 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74440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16" kern="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072580"/>
            <a:ext cx="16482060" cy="1670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spc="-126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 que nous proposons, </a:t>
            </a:r>
            <a:pPr algn="l" indent="0" marL="0">
              <a:lnSpc>
                <a:spcPct val="102000"/>
              </a:lnSpc>
              <a:buNone/>
            </a:pPr>
            <a:r>
              <a:rPr lang="en-US" sz="6300" i="1" spc="-126" kern="0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résumé</a:t>
            </a:r>
            <a:pPr algn="l" indent="0" marL="0">
              <a:lnSpc>
                <a:spcPct val="102000"/>
              </a:lnSpc>
              <a:buNone/>
            </a:pPr>
            <a:r>
              <a:rPr lang="en-US" sz="6300" spc="-126" kern="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3000" y="4181029"/>
            <a:ext cx="419100" cy="727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52600" y="4123879"/>
            <a:ext cx="1408823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dataset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 1 886 profils joueur-cadence depuis Lichess, décrits par 219 features comportementales — qualité, temps, phases, stabilité.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5137249"/>
            <a:ext cx="419100" cy="727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52600" y="5080099"/>
            <a:ext cx="1408823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Une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estimation du Elo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 cadence, à environ 150 points près à partir de seulement 10 parties — par gradient boosting, embeddings de parties et calibration.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6093470"/>
            <a:ext cx="419100" cy="727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52600" y="6036320"/>
            <a:ext cx="1408823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 sémantique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 décrit la façon de jouer — rythme, prise de risque, stabilité, fragilité par phase — </a:t>
            </a:r>
            <a:pPr algn="l" indent="0" marL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corrigé pour être indépendant du niveau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7049691"/>
            <a:ext cx="419100" cy="727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8B3A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52600" y="6992541"/>
            <a:ext cx="1408823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 profils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interprétables à 97–99 %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61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robustes même avec 10 parties — base d'un futur moteur d'échecs réellement adapté au joueur.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8158311"/>
            <a:ext cx="147161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i="1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Elo mesure le niveau. Le profil </a:t>
            </a:r>
            <a:pPr algn="l" indent="0" marL="0">
              <a:lnSpc>
                <a:spcPct val="120000"/>
              </a:lnSpc>
              <a:buNone/>
            </a:pPr>
            <a:r>
              <a:rPr lang="en-US" sz="2850" i="1" dirty="0">
                <a:solidFill>
                  <a:srgbClr val="8B3A1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décrit le jeu</a:t>
            </a:r>
            <a:pPr algn="l" indent="0" marL="0">
              <a:lnSpc>
                <a:spcPct val="120000"/>
              </a:lnSpc>
              <a:buNone/>
            </a:pPr>
            <a:r>
              <a:rPr lang="en-US" sz="2850" i="1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43000" y="8954542"/>
            <a:ext cx="794670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MERCI DE VOTRE ATTENTION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362182"/>
            <a:ext cx="794670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1A161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Questions ?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9198293" y="9171682"/>
            <a:ext cx="79467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Wafaa Berrais · Zineddine Mohammedi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98293" y="9514582"/>
            <a:ext cx="79467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Encadrement : Nicolas Baskiotis </a:t>
            </a:r>
            <a:pPr algn="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6E665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(in memoriam) </a:t>
            </a:r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65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· Olivier Schwander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2026-05-19T22:08:14Z</dcterms:created>
  <dcterms:modified xsi:type="dcterms:W3CDTF">2026-05-19T22:08:14Z</dcterms:modified>
</cp:coreProperties>
</file>